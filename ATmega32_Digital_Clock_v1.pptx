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75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0237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Welcome everyone. Today we present our ATmega32-based digital clock and task scheduler. This project demonstrates timer-based timekeeping, cooperative scheduling, and embedded C firmware design.</a:t>
            </a:r>
          </a:p>
        </p:txBody>
      </p:sp>
    </p:spTree>
    <p:extLst>
      <p:ext uri="{BB962C8B-B14F-4D97-AF65-F5344CB8AC3E}">
        <p14:creationId xmlns:p14="http://schemas.microsoft.com/office/powerpoint/2010/main" val="13082967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This slide gives a high-level overview. The system uses Timer1 in CTC mode generating a 1 Hz interrupt. From this single hardware tick, we derive all timing: the clock advances every second, the status LED toggles every 2 seconds, and the task LED flashes every 5 seconds. All output goes through USART at 9600 baud to a serial terminal.</a:t>
            </a:r>
          </a:p>
        </p:txBody>
      </p:sp>
    </p:spTree>
    <p:extLst>
      <p:ext uri="{BB962C8B-B14F-4D97-AF65-F5344CB8AC3E}">
        <p14:creationId xmlns:p14="http://schemas.microsoft.com/office/powerpoint/2010/main" val="32178892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The system requirements are split into functional and non-functional. Functionally, we need time display, button-based setting, scheduled LED tasks, and clean start-up. The non-functional requirements drive our architecture: low drift, non-blocking, modular code, and reliable power.</a:t>
            </a:r>
          </a:p>
        </p:txBody>
      </p:sp>
    </p:spTree>
    <p:extLst>
      <p:ext uri="{BB962C8B-B14F-4D97-AF65-F5344CB8AC3E}">
        <p14:creationId xmlns:p14="http://schemas.microsoft.com/office/powerpoint/2010/main" val="36556750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Hardware uses an ATmega32 in PDIP-40 package running at 8 MHz with an external crystal. Two LEDs on PORTB, three buttons on PORTA with pull-ups, and USART on PD0/PD1 for serial output. The whole system runs from a regulated 5V supply.</a:t>
            </a:r>
          </a:p>
        </p:txBody>
      </p:sp>
    </p:spTree>
    <p:extLst>
      <p:ext uri="{BB962C8B-B14F-4D97-AF65-F5344CB8AC3E}">
        <p14:creationId xmlns:p14="http://schemas.microsoft.com/office/powerpoint/2010/main" val="22419301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Timer1 in CTC mode with prescaler 1024 gives us OCR1A = 7812 for a 1 Hz interrupt. The actual frequency is 1.0000086 Hz, which means a drift of about 1 second every 13 days — well within the project requirements.</a:t>
            </a:r>
          </a:p>
        </p:txBody>
      </p:sp>
    </p:spTree>
    <p:extLst>
      <p:ext uri="{BB962C8B-B14F-4D97-AF65-F5344CB8AC3E}">
        <p14:creationId xmlns:p14="http://schemas.microsoft.com/office/powerpoint/2010/main" val="36595841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Pin mapping covers all used ATmega32 pins. Three buttons on PORTA with pull-ups, two LEDs on PORTB, USART on PD1, and the crystal on XTAL1/XTAL2. Power pins are decoupled per the datasheet recommendations.</a:t>
            </a:r>
          </a:p>
        </p:txBody>
      </p:sp>
    </p:spTree>
    <p:extLst>
      <p:ext uri="{BB962C8B-B14F-4D97-AF65-F5344CB8AC3E}">
        <p14:creationId xmlns:p14="http://schemas.microsoft.com/office/powerpoint/2010/main" val="16309371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The KiCad schematic follows the assignment specification exactly. All components are wired with proper net labels — SET_BTN, INC_BTN, CLOCK_RESET, LED_STATUS, LED_TASK, and USART_TXD. The schematic passed ERC with zero errors.</a:t>
            </a:r>
          </a:p>
        </p:txBody>
      </p:sp>
    </p:spTree>
    <p:extLst>
      <p:ext uri="{BB962C8B-B14F-4D97-AF65-F5344CB8AC3E}">
        <p14:creationId xmlns:p14="http://schemas.microsoft.com/office/powerpoint/2010/main" val="13401309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The PCB layout follows standard best practices — crystal close to the MCU, decoupling near power pins, user-accessible buttons on the board edge, and LEDs placed for visibility. The design passed DRC and Gerber files are ready for fabrication.</a:t>
            </a:r>
          </a:p>
        </p:txBody>
      </p:sp>
    </p:spTree>
    <p:extLst>
      <p:ext uri="{BB962C8B-B14F-4D97-AF65-F5344CB8AC3E}">
        <p14:creationId xmlns:p14="http://schemas.microsoft.com/office/powerpoint/2010/main" val="8863134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Firmware follows a layered architecture. Application layer is main.c, modules are timer, scheduler, buttons, and display — all with clean header-file interfaces. config.h centralizes all hardware constants. The Makefile handles compilation with AVR-GCC and flashing via avrdude.</a:t>
            </a:r>
          </a:p>
        </p:txBody>
      </p:sp>
    </p:spTree>
    <p:extLst>
      <p:ext uri="{BB962C8B-B14F-4D97-AF65-F5344CB8AC3E}">
        <p14:creationId xmlns:p14="http://schemas.microsoft.com/office/powerpoint/2010/main" val="30722081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The ISR is deliberately minimal — it only sets a boolean flag. The main loop polls this flag and dispatches all work. This keeps interrupt latency extremely low. The cooperative scheduler manages four tasks: clock tick at 1s, status LED at 2s, task LED at 5s, and extension task at 10s.</a:t>
            </a:r>
          </a:p>
        </p:txBody>
      </p:sp>
    </p:spTree>
    <p:extLst>
      <p:ext uri="{BB962C8B-B14F-4D97-AF65-F5344CB8AC3E}">
        <p14:creationId xmlns:p14="http://schemas.microsoft.com/office/powerpoint/2010/main" val="13726663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The SimulIDE simulation was used to verify all system behavior before building the hardware. Every test passed — clock startup at 00:00:00, one-second timing, LED scheduling at 2s and 5s, and all three button functions. Screenshots are saved in the simulide/screenshots directory.</a:t>
            </a:r>
          </a:p>
        </p:txBody>
      </p:sp>
    </p:spTree>
    <p:extLst>
      <p:ext uri="{BB962C8B-B14F-4D97-AF65-F5344CB8AC3E}">
        <p14:creationId xmlns:p14="http://schemas.microsoft.com/office/powerpoint/2010/main" val="34902219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All 30 test cases passed across 7 categories. Key highlights include the 10-minute drift test showing only ±0.12 seconds drift, rapid button press tests with zero double-triggers, and proper handling of simultaneous LED events. Full details are in documentation/test_results.md.</a:t>
            </a:r>
          </a:p>
        </p:txBody>
      </p:sp>
    </p:spTree>
    <p:extLst>
      <p:ext uri="{BB962C8B-B14F-4D97-AF65-F5344CB8AC3E}">
        <p14:creationId xmlns:p14="http://schemas.microsoft.com/office/powerpoint/2010/main" val="11168321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The GitHub repository follows the suggested structure from the assignment specification. It contains all firmware source code, KiCad design files, SimulIDE simulation, and comprehensive documentation. Each directory is organized for clarity.</a:t>
            </a:r>
          </a:p>
        </p:txBody>
      </p:sp>
    </p:spTree>
    <p:extLst>
      <p:ext uri="{BB962C8B-B14F-4D97-AF65-F5344CB8AC3E}">
        <p14:creationId xmlns:p14="http://schemas.microsoft.com/office/powerpoint/2010/main" val="824286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In summary, this project successfully demonstrates timer-based timekeeping on the ATmega32 with accurate 1 Hz interrupts, a cooperative task scheduler, modular firmware, and comprehensive testing. The system is accurate, responsive, and maintainable.</a:t>
            </a:r>
          </a:p>
        </p:txBody>
      </p:sp>
    </p:spTree>
    <p:extLst>
      <p:ext uri="{BB962C8B-B14F-4D97-AF65-F5344CB8AC3E}">
        <p14:creationId xmlns:p14="http://schemas.microsoft.com/office/powerpoint/2010/main" val="41797525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Thank you for your attention. We are happy to take any questions about the project — the Timer1 CTC configuration, cooperative scheduler design, KiCad design flow, or test results.</a:t>
            </a:r>
          </a:p>
        </p:txBody>
      </p:sp>
    </p:spTree>
    <p:extLst>
      <p:ext uri="{BB962C8B-B14F-4D97-AF65-F5344CB8AC3E}">
        <p14:creationId xmlns:p14="http://schemas.microsoft.com/office/powerpoint/2010/main" val="14409605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p:cNvSpPr>
            <a:spLocks noGrp="1"/>
          </p:cNvSpPr>
          <p:nvPr>
            <p:ph type="ctrTitle"/>
          </p:nvPr>
        </p:nvSpPr>
        <p:spPr>
          <a:xfrm>
            <a:off x="685800" y="2130425"/>
            <a:ext cx="7772400" cy="1470025"/>
          </a:xfrm>
        </p:spPr>
        <p:txBody>
          <a:bodyPr/>
          <a:lstStyle/>
          <a:p>
            <a:endParaRPr lang="en-US"/>
          </a:p>
        </p:txBody>
      </p:sp>
      <p:sp>
        <p:nvSpPr>
          <p:cNvPr id="3" name="Subtitle"/>
          <p:cNvSpPr>
            <a:spLocks noGrp="1"/>
          </p:cNvSpPr>
          <p:nvPr>
            <p:ph type="subTitle" idx="1"/>
          </p:nvPr>
        </p:nvSpPr>
        <p:spPr>
          <a:xfrm>
            <a:off x="1371600" y="3886200"/>
            <a:ext cx="6400800" cy="1752600"/>
          </a:xfrm>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Tx">
  <p:cSld name="Title and Content">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
        <p:nvSpPr>
          <p:cNvPr id="3" name="Content"/>
          <p:cNvSpPr>
            <a:spLocks noGrp="1"/>
          </p:cNvSpPr>
          <p:nvPr>
            <p:ph type="body" idx="1"/>
          </p:nvPr>
        </p:nvSpPr>
        <p:spPr>
          <a:xfrm>
            <a:off x="838200" y="1825625"/>
            <a:ext cx="10515600" cy="4351338"/>
          </a:xfrm>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p:cSld name="Two Content">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
        <p:nvSpPr>
          <p:cNvPr id="3" name="Content Left"/>
          <p:cNvSpPr>
            <a:spLocks noGrp="1"/>
          </p:cNvSpPr>
          <p:nvPr>
            <p:ph type="body" idx="1"/>
          </p:nvPr>
        </p:nvSpPr>
        <p:spPr>
          <a:xfrm>
            <a:off x="838200" y="1825625"/>
            <a:ext cx="5181600" cy="4351338"/>
          </a:xfrm>
        </p:spPr>
        <p:txBody>
          <a:bodyPr/>
          <a:lstStyle/>
          <a:p>
            <a:endParaRPr lang="en-US"/>
          </a:p>
        </p:txBody>
      </p:sp>
      <p:sp>
        <p:nvSpPr>
          <p:cNvPr id="4" name="Content Right"/>
          <p:cNvSpPr>
            <a:spLocks noGrp="1"/>
          </p:cNvSpPr>
          <p:nvPr>
            <p:ph type="body" idx="2"/>
          </p:nvPr>
        </p:nvSpPr>
        <p:spPr>
          <a:xfrm>
            <a:off x="6172200" y="1825625"/>
            <a:ext cx="5181600" cy="4351338"/>
          </a:xfrm>
        </p:spPr>
        <p:txBody>
          <a:bodyPr/>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100000" name="TextBox 1"/>
          <p:cNvSpPr txBox="1"/>
          <p:nvPr/>
        </p:nvSpPr>
        <p:spPr>
          <a:xfrm>
            <a:off x="720000" y="1080000"/>
            <a:ext cx="10753200" cy="540000"/>
          </a:xfrm>
          <a:prstGeom prst="rect">
            <a:avLst/>
          </a:prstGeom>
        </p:spPr>
        <p:txBody>
          <a:bodyPr/>
          <a:lstStyle/>
          <a:p>
            <a:pPr algn="ctr"/>
            <a:r>
              <a:rPr lang="en-US" sz="2000" b="1">
                <a:solidFill>
                  <a:srgbClr val="CADCFC"/>
                </a:solidFill>
                <a:latin typeface="Georgia"/>
                <a:ea typeface="Georgia"/>
              </a:rPr>
              <a:t>CT_321 · PBL 08</a:t>
            </a:r>
          </a:p>
        </p:txBody>
      </p:sp>
      <p:sp>
        <p:nvSpPr>
          <p:cNvPr id="100001" name="TextBox 2"/>
          <p:cNvSpPr txBox="1"/>
          <p:nvPr/>
        </p:nvSpPr>
        <p:spPr>
          <a:xfrm>
            <a:off x="720000" y="1980000"/>
            <a:ext cx="10753200" cy="720000"/>
          </a:xfrm>
          <a:prstGeom prst="rect">
            <a:avLst/>
          </a:prstGeom>
        </p:spPr>
        <p:txBody>
          <a:bodyPr/>
          <a:lstStyle/>
          <a:p>
            <a:pPr algn="ctr"/>
            <a:r>
              <a:rPr lang="en-US" sz="4400" b="1">
                <a:solidFill>
                  <a:srgbClr val="FFFFFF"/>
                </a:solidFill>
                <a:latin typeface="Georgia"/>
                <a:ea typeface="Georgia"/>
              </a:rPr>
              <a:t>ATmega32 Timer-Based</a:t>
            </a:r>
          </a:p>
        </p:txBody>
      </p:sp>
      <p:sp>
        <p:nvSpPr>
          <p:cNvPr id="100002" name="TextBox 3"/>
          <p:cNvSpPr txBox="1"/>
          <p:nvPr/>
        </p:nvSpPr>
        <p:spPr>
          <a:xfrm>
            <a:off x="720000" y="2700000"/>
            <a:ext cx="10753200" cy="720000"/>
          </a:xfrm>
          <a:prstGeom prst="rect">
            <a:avLst/>
          </a:prstGeom>
        </p:spPr>
        <p:txBody>
          <a:bodyPr/>
          <a:lstStyle/>
          <a:p>
            <a:pPr algn="ctr"/>
            <a:r>
              <a:rPr lang="en-US" sz="4400" b="1">
                <a:solidFill>
                  <a:srgbClr val="FFFFFF"/>
                </a:solidFill>
                <a:latin typeface="Georgia"/>
                <a:ea typeface="Georgia"/>
              </a:rPr>
              <a:t>Digital Clock &amp; Task Scheduler</a:t>
            </a:r>
          </a:p>
        </p:txBody>
      </p:sp>
      <p:sp>
        <p:nvSpPr>
          <p:cNvPr id="100003" name="TextBox 4"/>
          <p:cNvSpPr txBox="1"/>
          <p:nvPr/>
        </p:nvSpPr>
        <p:spPr>
          <a:xfrm>
            <a:off x="720000" y="3780000"/>
            <a:ext cx="10753200" cy="540000"/>
          </a:xfrm>
          <a:prstGeom prst="rect">
            <a:avLst/>
          </a:prstGeom>
        </p:spPr>
        <p:txBody>
          <a:bodyPr/>
          <a:lstStyle/>
          <a:p>
            <a:pPr algn="ctr"/>
            <a:r>
              <a:rPr lang="en-US" sz="1800">
                <a:solidFill>
                  <a:srgbClr val="CADCFC"/>
                </a:solidFill>
                <a:latin typeface="Calibri"/>
                <a:ea typeface="Calibri"/>
              </a:rPr>
              <a:t>Embedded Systems Design Review — Real-time Clock with Cooperative Task Scheduling</a:t>
            </a:r>
          </a:p>
        </p:txBody>
      </p:sp>
      <p:sp>
        <p:nvSpPr>
          <p:cNvPr id="100004" name="TextBox 5"/>
          <p:cNvSpPr txBox="1"/>
          <p:nvPr/>
        </p:nvSpPr>
        <p:spPr>
          <a:xfrm>
            <a:off x="720000" y="5220000"/>
            <a:ext cx="10753200" cy="432000"/>
          </a:xfrm>
          <a:prstGeom prst="rect">
            <a:avLst/>
          </a:prstGeom>
        </p:spPr>
        <p:txBody>
          <a:bodyPr/>
          <a:lstStyle/>
          <a:p>
            <a:pPr algn="ctr"/>
            <a:r>
              <a:rPr lang="en-US" sz="1400">
                <a:solidFill>
                  <a:srgbClr val="8899BB"/>
                </a:solidFill>
                <a:latin typeface="Calibri"/>
                <a:ea typeface="Calibri"/>
              </a:rPr>
              <a:t>Embedded Systems Track  |  July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05" name="TextBox 1"/>
          <p:cNvSpPr txBox="1"/>
          <p:nvPr/>
        </p:nvSpPr>
        <p:spPr>
          <a:xfrm>
            <a:off x="540000" y="288000"/>
            <a:ext cx="1080000" cy="540000"/>
          </a:xfrm>
          <a:prstGeom prst="rect">
            <a:avLst/>
          </a:prstGeom>
        </p:spPr>
        <p:txBody>
          <a:bodyPr/>
          <a:lstStyle/>
          <a:p>
            <a:pPr algn="l"/>
            <a:r>
              <a:rPr lang="en-US" sz="3600" b="1">
                <a:solidFill>
                  <a:srgbClr val="1E2761"/>
                </a:solidFill>
                <a:latin typeface="Georgia"/>
                <a:ea typeface="Georgia"/>
              </a:rPr>
              <a:t>01</a:t>
            </a:r>
          </a:p>
        </p:txBody>
      </p:sp>
      <p:sp>
        <p:nvSpPr>
          <p:cNvPr id="100006" name="TextBox 2"/>
          <p:cNvSpPr txBox="1"/>
          <p:nvPr/>
        </p:nvSpPr>
        <p:spPr>
          <a:xfrm>
            <a:off x="1620000" y="288000"/>
            <a:ext cx="7200000" cy="540000"/>
          </a:xfrm>
          <a:prstGeom prst="rect">
            <a:avLst/>
          </a:prstGeom>
        </p:spPr>
        <p:txBody>
          <a:bodyPr/>
          <a:lstStyle/>
          <a:p>
            <a:pPr algn="l"/>
            <a:r>
              <a:rPr lang="en-US" sz="3200" b="1">
                <a:solidFill>
                  <a:srgbClr val="1E2761"/>
                </a:solidFill>
                <a:latin typeface="Georgia"/>
                <a:ea typeface="Georgia"/>
              </a:rPr>
              <a:t>Project Overview</a:t>
            </a:r>
          </a:p>
        </p:txBody>
      </p:sp>
      <p:sp>
        <p:nvSpPr>
          <p:cNvPr id="100007" name="TextBox 3"/>
          <p:cNvSpPr/>
          <p:nvPr/>
        </p:nvSpPr>
        <p:spPr>
          <a:xfrm>
            <a:off x="540000" y="900000"/>
            <a:ext cx="900000" cy="54000"/>
          </a:xfrm>
          <a:prstGeom prst="rect">
            <a:avLst/>
          </a:prstGeom>
          <a:solidFill>
            <a:srgbClr val="1E2761"/>
          </a:solidFill>
          <a:ln>
            <a:noFill/>
          </a:ln>
        </p:spPr>
        <p:txBody>
          <a:bodyPr/>
          <a:lstStyle/>
          <a:p>
            <a:endParaRPr/>
          </a:p>
        </p:txBody>
      </p:sp>
      <p:sp>
        <p:nvSpPr>
          <p:cNvPr id="100008" name="TextBox 4"/>
          <p:cNvSpPr txBox="1"/>
          <p:nvPr/>
        </p:nvSpPr>
        <p:spPr>
          <a:xfrm>
            <a:off x="540000" y="1152000"/>
            <a:ext cx="11113200" cy="1620000"/>
          </a:xfrm>
          <a:prstGeom prst="rect">
            <a:avLst/>
          </a:prstGeom>
        </p:spPr>
        <p:txBody>
          <a:bodyPr/>
          <a:lstStyle/>
          <a:p>
            <a:r>
              <a:rPr lang="en-US" sz="1800">
                <a:solidFill>
                  <a:srgbClr val="333333"/>
                </a:solidFill>
                <a:latin typeface="Calibri"/>
                <a:ea typeface="Calibri"/>
              </a:rPr>
              <a:t>A precision digital clock and multi-task scheduler implemented in embedded C on the ATmega32 microcontroller. The system maintains real-time hour/minute/second tracking using Timer1 in CTC mode with a 1 Hz interrupt, drives a cooperative scheduler for concurrent LED tasks, and outputs time via USART at 9600 baud — all without an RTOS.</a:t>
            </a:r>
          </a:p>
        </p:txBody>
      </p:sp>
      <p:sp>
        <p:nvSpPr>
          <p:cNvPr id="100009" name="TextBox 5"/>
          <p:cNvSpPr/>
          <p:nvPr/>
        </p:nvSpPr>
        <p:spPr>
          <a:xfrm>
            <a:off x="540000" y="3060000"/>
            <a:ext cx="2520000" cy="1440000"/>
          </a:xfrm>
          <a:prstGeom prst="roundRect">
            <a:avLst/>
          </a:prstGeom>
          <a:solidFill>
            <a:srgbClr val="1E2761"/>
          </a:solidFill>
          <a:ln>
            <a:noFill/>
          </a:ln>
        </p:spPr>
        <p:txBody>
          <a:bodyPr/>
          <a:lstStyle/>
          <a:p>
            <a:endParaRPr/>
          </a:p>
        </p:txBody>
      </p:sp>
      <p:sp>
        <p:nvSpPr>
          <p:cNvPr id="100010" name="TextBox 6"/>
          <p:cNvSpPr/>
          <p:nvPr/>
        </p:nvSpPr>
        <p:spPr>
          <a:xfrm>
            <a:off x="3420000" y="3060000"/>
            <a:ext cx="2520000" cy="1440000"/>
          </a:xfrm>
          <a:prstGeom prst="roundRect">
            <a:avLst/>
          </a:prstGeom>
          <a:solidFill>
            <a:srgbClr val="CADCFC"/>
          </a:solidFill>
          <a:ln>
            <a:noFill/>
          </a:ln>
        </p:spPr>
        <p:txBody>
          <a:bodyPr/>
          <a:lstStyle/>
          <a:p>
            <a:endParaRPr/>
          </a:p>
        </p:txBody>
      </p:sp>
      <p:sp>
        <p:nvSpPr>
          <p:cNvPr id="100013" name="TextBox 9"/>
          <p:cNvSpPr/>
          <p:nvPr/>
        </p:nvSpPr>
        <p:spPr>
          <a:xfrm>
            <a:off x="6300000" y="3060000"/>
            <a:ext cx="2520000" cy="1440000"/>
          </a:xfrm>
          <a:prstGeom prst="roundRect">
            <a:avLst/>
          </a:prstGeom>
          <a:solidFill>
            <a:srgbClr val="1E2761"/>
          </a:solidFill>
          <a:ln>
            <a:noFill/>
          </a:ln>
        </p:spPr>
        <p:txBody>
          <a:bodyPr/>
          <a:lstStyle/>
          <a:p>
            <a:endParaRPr/>
          </a:p>
        </p:txBody>
      </p:sp>
      <p:sp>
        <p:nvSpPr>
          <p:cNvPr id="100014" name="TextBox 10"/>
          <p:cNvSpPr txBox="1"/>
          <p:nvPr/>
        </p:nvSpPr>
        <p:spPr>
          <a:xfrm>
            <a:off x="6300000" y="3168000"/>
            <a:ext cx="2520000" cy="432000"/>
          </a:xfrm>
          <a:prstGeom prst="rect">
            <a:avLst/>
          </a:prstGeom>
        </p:spPr>
        <p:txBody>
          <a:bodyPr/>
          <a:lstStyle/>
          <a:p>
            <a:pPr algn="ctr"/>
            <a:r>
              <a:rPr lang="en-US" sz="2000" b="1">
                <a:solidFill>
                  <a:srgbClr val="FFFFFF"/>
                </a:solidFill>
                <a:latin typeface="Georgia"/>
                <a:ea typeface="Georgia"/>
              </a:rPr>
              <a:t>USART 9600</a:t>
            </a:r>
          </a:p>
        </p:txBody>
      </p:sp>
      <p:sp>
        <p:nvSpPr>
          <p:cNvPr id="100015" name="TextBox 11"/>
          <p:cNvSpPr txBox="1"/>
          <p:nvPr/>
        </p:nvSpPr>
        <p:spPr>
          <a:xfrm>
            <a:off x="6300000" y="3672000"/>
            <a:ext cx="2520000" cy="360000"/>
          </a:xfrm>
          <a:prstGeom prst="rect">
            <a:avLst/>
          </a:prstGeom>
        </p:spPr>
        <p:txBody>
          <a:bodyPr/>
          <a:lstStyle/>
          <a:p>
            <a:pPr algn="ctr"/>
            <a:r>
              <a:rPr lang="en-US" sz="1600">
                <a:solidFill>
                  <a:srgbClr val="CADCFC"/>
                </a:solidFill>
                <a:latin typeface="Calibri"/>
                <a:ea typeface="Calibri"/>
              </a:rPr>
              <a:t>HH:MM:SS Display</a:t>
            </a:r>
          </a:p>
        </p:txBody>
      </p:sp>
      <p:sp>
        <p:nvSpPr>
          <p:cNvPr id="100016" name="TextBox 12"/>
          <p:cNvSpPr txBox="1"/>
          <p:nvPr/>
        </p:nvSpPr>
        <p:spPr>
          <a:xfrm>
            <a:off x="10080000" y="6300000"/>
            <a:ext cx="1800000" cy="360000"/>
          </a:xfrm>
          <a:prstGeom prst="rect">
            <a:avLst/>
          </a:prstGeom>
        </p:spPr>
        <p:txBody>
          <a:bodyPr/>
          <a:lstStyle/>
          <a:p>
            <a:pPr algn="r"/>
            <a:r>
              <a:rPr lang="en-US" sz="1200">
                <a:solidFill>
                  <a:srgbClr val="8899BB"/>
                </a:solidFill>
                <a:latin typeface="Calibri"/>
                <a:ea typeface="Calibri"/>
              </a:rPr>
              <a:t>02 / 14</a:t>
            </a:r>
          </a:p>
        </p:txBody>
      </p:sp>
      <p:sp>
        <p:nvSpPr>
          <p:cNvPr id="100017" name="TextBox 11"/>
          <p:cNvSpPr txBox="1"/>
          <p:nvPr/>
        </p:nvSpPr>
        <p:spPr>
          <a:xfrm>
            <a:off x="540000" y="3168000"/>
            <a:ext cx="2520000" cy="432000"/>
          </a:xfrm>
          <a:prstGeom prst="rect">
            <a:avLst/>
          </a:prstGeom>
        </p:spPr>
        <p:txBody>
          <a:bodyPr/>
          <a:lstStyle/>
          <a:p>
            <a:pPr algn="ctr"/>
            <a:r>
              <a:rPr lang="en-US" sz="2000" b="1">
                <a:solidFill>
                  <a:srgbClr val="FFFFFF"/>
                </a:solidFill>
                <a:latin typeface="Georgia"/>
                <a:ea typeface="Georgia"/>
              </a:rPr>
              <a:t>Timer1 CTC</a:t>
            </a:r>
          </a:p>
        </p:txBody>
      </p:sp>
      <p:sp>
        <p:nvSpPr>
          <p:cNvPr id="100018" name="TextBox 12"/>
          <p:cNvSpPr txBox="1"/>
          <p:nvPr/>
        </p:nvSpPr>
        <p:spPr>
          <a:xfrm>
            <a:off x="540000" y="3672000"/>
            <a:ext cx="2520000" cy="432000"/>
          </a:xfrm>
          <a:prstGeom prst="rect">
            <a:avLst/>
          </a:prstGeom>
        </p:spPr>
        <p:txBody>
          <a:bodyPr/>
          <a:lstStyle/>
          <a:p>
            <a:pPr algn="ctr"/>
            <a:r>
              <a:rPr lang="en-US" sz="1600">
                <a:solidFill>
                  <a:srgbClr val="CADCFC"/>
                </a:solidFill>
                <a:latin typeface="Calibri"/>
                <a:ea typeface="Calibri"/>
              </a:rPr>
              <a:t>1 Hz Time Base</a:t>
            </a:r>
          </a:p>
        </p:txBody>
      </p:sp>
      <p:sp>
        <p:nvSpPr>
          <p:cNvPr id="100019" name="TextBox 13"/>
          <p:cNvSpPr txBox="1"/>
          <p:nvPr/>
        </p:nvSpPr>
        <p:spPr>
          <a:xfrm>
            <a:off x="3420000" y="3168000"/>
            <a:ext cx="2520000" cy="432000"/>
          </a:xfrm>
          <a:prstGeom prst="rect">
            <a:avLst/>
          </a:prstGeom>
        </p:spPr>
        <p:txBody>
          <a:bodyPr/>
          <a:lstStyle/>
          <a:p>
            <a:pPr algn="ctr"/>
            <a:r>
              <a:rPr lang="en-US" sz="2000" b="1">
                <a:solidFill>
                  <a:srgbClr val="1E2761"/>
                </a:solidFill>
                <a:latin typeface="Georgia"/>
                <a:ea typeface="Georgia"/>
              </a:rPr>
              <a:t>Concurrent Tasks</a:t>
            </a:r>
          </a:p>
        </p:txBody>
      </p:sp>
      <p:sp>
        <p:nvSpPr>
          <p:cNvPr id="100020" name="TextBox 14"/>
          <p:cNvSpPr txBox="1"/>
          <p:nvPr/>
        </p:nvSpPr>
        <p:spPr>
          <a:xfrm>
            <a:off x="3420000" y="3672000"/>
            <a:ext cx="2520000" cy="432000"/>
          </a:xfrm>
          <a:prstGeom prst="rect">
            <a:avLst/>
          </a:prstGeom>
        </p:spPr>
        <p:txBody>
          <a:bodyPr/>
          <a:lstStyle/>
          <a:p>
            <a:pPr algn="ctr"/>
            <a:r>
              <a:rPr lang="en-US" sz="1600">
                <a:solidFill>
                  <a:srgbClr val="333333"/>
                </a:solidFill>
                <a:latin typeface="Calibri"/>
                <a:ea typeface="Calibri"/>
              </a:rPr>
              <a:t>Flag-Based Dispatch</a:t>
            </a:r>
          </a:p>
        </p:txBody>
      </p:sp>
      <p:sp>
        <p:nvSpPr>
          <p:cNvPr id="100021" name="TextBox 15"/>
          <p:cNvSpPr txBox="1"/>
          <p:nvPr/>
        </p:nvSpPr>
        <p:spPr>
          <a:xfrm>
            <a:off x="6300000" y="3168000"/>
            <a:ext cx="2520000" cy="432000"/>
          </a:xfrm>
          <a:prstGeom prst="rect">
            <a:avLst/>
          </a:prstGeom>
        </p:spPr>
        <p:txBody>
          <a:bodyPr/>
          <a:lstStyle/>
          <a:p>
            <a:pPr algn="ctr"/>
            <a:r>
              <a:rPr lang="en-US" sz="2000" b="1">
                <a:solidFill>
                  <a:srgbClr val="FFFFFF"/>
                </a:solidFill>
                <a:latin typeface="Georgia"/>
                <a:ea typeface="Georgia"/>
              </a:rPr>
              <a:t>USART 9600</a:t>
            </a:r>
          </a:p>
        </p:txBody>
      </p:sp>
      <p:sp>
        <p:nvSpPr>
          <p:cNvPr id="100022" name="TextBox 16"/>
          <p:cNvSpPr txBox="1"/>
          <p:nvPr/>
        </p:nvSpPr>
        <p:spPr>
          <a:xfrm>
            <a:off x="6300000" y="3672000"/>
            <a:ext cx="2520000" cy="432000"/>
          </a:xfrm>
          <a:prstGeom prst="rect">
            <a:avLst/>
          </a:prstGeom>
        </p:spPr>
        <p:txBody>
          <a:bodyPr/>
          <a:lstStyle/>
          <a:p>
            <a:pPr algn="ctr"/>
            <a:r>
              <a:rPr lang="en-US" sz="1600">
                <a:solidFill>
                  <a:srgbClr val="CADCFC"/>
                </a:solidFill>
                <a:latin typeface="Calibri"/>
                <a:ea typeface="Calibri"/>
              </a:rPr>
              <a:t>HH:MM:SS Output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23" name="TextBox 1"/>
          <p:cNvSpPr txBox="1"/>
          <p:nvPr/>
        </p:nvSpPr>
        <p:spPr>
          <a:xfrm>
            <a:off x="540000" y="288000"/>
            <a:ext cx="1080000" cy="540000"/>
          </a:xfrm>
          <a:prstGeom prst="rect">
            <a:avLst/>
          </a:prstGeom>
        </p:spPr>
        <p:txBody>
          <a:bodyPr/>
          <a:lstStyle/>
          <a:p>
            <a:pPr algn="l"/>
            <a:r>
              <a:rPr lang="en-US" sz="3600" b="1">
                <a:solidFill>
                  <a:srgbClr val="1E2761"/>
                </a:solidFill>
                <a:latin typeface="Georgia"/>
                <a:ea typeface="Georgia"/>
              </a:rPr>
              <a:t>02</a:t>
            </a:r>
          </a:p>
        </p:txBody>
      </p:sp>
      <p:sp>
        <p:nvSpPr>
          <p:cNvPr id="100024" name="TextBox 2"/>
          <p:cNvSpPr txBox="1"/>
          <p:nvPr/>
        </p:nvSpPr>
        <p:spPr>
          <a:xfrm>
            <a:off x="1620000" y="288000"/>
            <a:ext cx="7200000" cy="540000"/>
          </a:xfrm>
          <a:prstGeom prst="rect">
            <a:avLst/>
          </a:prstGeom>
        </p:spPr>
        <p:txBody>
          <a:bodyPr/>
          <a:lstStyle/>
          <a:p>
            <a:r>
              <a:rPr lang="en-US" sz="3200" b="1">
                <a:solidFill>
                  <a:srgbClr val="1E2761"/>
                </a:solidFill>
                <a:latin typeface="Georgia"/>
                <a:ea typeface="Georgia"/>
              </a:rPr>
              <a:t>System Requirements</a:t>
            </a:r>
          </a:p>
        </p:txBody>
      </p:sp>
      <p:sp>
        <p:nvSpPr>
          <p:cNvPr id="100025" name="TextBox 3"/>
          <p:cNvSpPr/>
          <p:nvPr/>
        </p:nvSpPr>
        <p:spPr>
          <a:xfrm>
            <a:off x="540000" y="900000"/>
            <a:ext cx="900000" cy="54000"/>
          </a:xfrm>
          <a:prstGeom prst="rect">
            <a:avLst/>
          </a:prstGeom>
          <a:solidFill>
            <a:srgbClr val="1E2761"/>
          </a:solidFill>
          <a:ln>
            <a:noFill/>
          </a:ln>
        </p:spPr>
        <p:txBody>
          <a:bodyPr/>
          <a:lstStyle/>
          <a:p>
            <a:endParaRPr/>
          </a:p>
        </p:txBody>
      </p:sp>
      <p:sp>
        <p:nvSpPr>
          <p:cNvPr id="100026" name="TextBox 4"/>
          <p:cNvSpPr txBox="1"/>
          <p:nvPr/>
        </p:nvSpPr>
        <p:spPr>
          <a:xfrm>
            <a:off x="540000" y="1152000"/>
            <a:ext cx="5040000" cy="432000"/>
          </a:xfrm>
          <a:prstGeom prst="rect">
            <a:avLst/>
          </a:prstGeom>
        </p:spPr>
        <p:txBody>
          <a:bodyPr/>
          <a:lstStyle/>
          <a:p>
            <a:r>
              <a:rPr lang="en-US" sz="2200" b="1">
                <a:solidFill>
                  <a:srgbClr val="1E2761"/>
                </a:solidFill>
                <a:latin typeface="Georgia"/>
                <a:ea typeface="Georgia"/>
              </a:rPr>
              <a:t>Functional Requirements</a:t>
            </a:r>
          </a:p>
        </p:txBody>
      </p:sp>
      <p:sp>
        <p:nvSpPr>
          <p:cNvPr id="100027" name="TextBox 5"/>
          <p:cNvSpPr txBox="1"/>
          <p:nvPr/>
        </p:nvSpPr>
        <p:spPr>
          <a:xfrm>
            <a:off x="540000" y="1620000"/>
            <a:ext cx="5040000" cy="1800000"/>
          </a:xfrm>
          <a:prstGeom prst="rect">
            <a:avLst/>
          </a:prstGeom>
        </p:spPr>
        <p:txBody>
          <a:bodyPr/>
          <a:lstStyle/>
          <a:p>
            <a:r>
              <a:rPr lang="en-US" sz="1800">
                <a:solidFill>
                  <a:srgbClr val="333333"/>
                </a:solidFill>
                <a:latin typeface="Calibri"/>
                <a:ea typeface="Calibri"/>
              </a:rPr>
              <a:t>FR-1  24-hour HH:MM:SS display via USART</a:t>
            </a:r>
          </a:p>
          <a:p>
            <a:r>
              <a:rPr lang="en-US" sz="1800">
                <a:solidFill>
                  <a:srgbClr val="333333"/>
                </a:solidFill>
                <a:latin typeface="Calibri"/>
                <a:ea typeface="Calibri"/>
              </a:rPr>
              <a:t>FR-2  Push-button time setting (SET / INC / RESET)</a:t>
            </a:r>
          </a:p>
          <a:p>
            <a:r>
              <a:rPr lang="en-US" sz="1800">
                <a:solidFill>
                  <a:srgbClr val="333333"/>
                </a:solidFill>
                <a:latin typeface="Calibri"/>
                <a:ea typeface="Calibri"/>
              </a:rPr>
              <a:t>FR-3  Scheduled LED tasks without blocking</a:t>
            </a:r>
          </a:p>
          <a:p>
            <a:r>
              <a:rPr lang="en-US" sz="1800">
                <a:solidFill>
                  <a:srgbClr val="333333"/>
                </a:solidFill>
                <a:latin typeface="Calibri"/>
                <a:ea typeface="Calibri"/>
              </a:rPr>
              <a:t>FR-4  Clean state on power-up or reset</a:t>
            </a:r>
          </a:p>
        </p:txBody>
      </p:sp>
      <p:sp>
        <p:nvSpPr>
          <p:cNvPr id="100028" name="TextBox 6"/>
          <p:cNvSpPr/>
          <p:nvPr/>
        </p:nvSpPr>
        <p:spPr>
          <a:xfrm>
            <a:off x="6120000" y="1152000"/>
            <a:ext cx="36000" cy="2520000"/>
          </a:xfrm>
          <a:prstGeom prst="rect">
            <a:avLst/>
          </a:prstGeom>
          <a:solidFill>
            <a:srgbClr val="1E2761"/>
          </a:solidFill>
          <a:ln>
            <a:noFill/>
          </a:ln>
        </p:spPr>
        <p:txBody>
          <a:bodyPr/>
          <a:lstStyle/>
          <a:p>
            <a:endParaRPr/>
          </a:p>
        </p:txBody>
      </p:sp>
      <p:sp>
        <p:nvSpPr>
          <p:cNvPr id="100029" name="TextBox 7"/>
          <p:cNvSpPr txBox="1"/>
          <p:nvPr/>
        </p:nvSpPr>
        <p:spPr>
          <a:xfrm>
            <a:off x="6300000" y="1152000"/>
            <a:ext cx="5040000" cy="432000"/>
          </a:xfrm>
          <a:prstGeom prst="rect">
            <a:avLst/>
          </a:prstGeom>
        </p:spPr>
        <p:txBody>
          <a:bodyPr/>
          <a:lstStyle/>
          <a:p>
            <a:r>
              <a:rPr lang="en-US" sz="2200" b="1">
                <a:solidFill>
                  <a:srgbClr val="1E2761"/>
                </a:solidFill>
                <a:latin typeface="Georgia"/>
                <a:ea typeface="Georgia"/>
              </a:rPr>
              <a:t>Non-Functional Requirements</a:t>
            </a:r>
          </a:p>
        </p:txBody>
      </p:sp>
      <p:sp>
        <p:nvSpPr>
          <p:cNvPr id="100030" name="TextBox 8"/>
          <p:cNvSpPr txBox="1"/>
          <p:nvPr/>
        </p:nvSpPr>
        <p:spPr>
          <a:xfrm>
            <a:off x="6300000" y="1620000"/>
            <a:ext cx="5040000" cy="1800000"/>
          </a:xfrm>
          <a:prstGeom prst="rect">
            <a:avLst/>
          </a:prstGeom>
        </p:spPr>
        <p:txBody>
          <a:bodyPr/>
          <a:lstStyle/>
          <a:p>
            <a:r>
              <a:rPr lang="en-US" sz="1800">
                <a:solidFill>
                  <a:srgbClr val="333333"/>
                </a:solidFill>
                <a:latin typeface="Calibri"/>
                <a:ea typeface="Calibri"/>
              </a:rPr>
              <a:t>NFR-1  Timing drift  ≤ 1 s / 24 hours</a:t>
            </a:r>
          </a:p>
          <a:p>
            <a:r>
              <a:rPr lang="en-US" sz="1800">
                <a:solidFill>
                  <a:srgbClr val="333333"/>
                </a:solidFill>
                <a:latin typeface="Calibri"/>
                <a:ea typeface="Calibri"/>
              </a:rPr>
              <a:t>NFR-2  Non-blocking I/O — no busy waits</a:t>
            </a:r>
          </a:p>
          <a:p>
            <a:r>
              <a:rPr lang="en-US" sz="1800">
                <a:solidFill>
                  <a:srgbClr val="333333"/>
                </a:solidFill>
                <a:latin typeface="Calibri"/>
                <a:ea typeface="Calibri"/>
              </a:rPr>
              <a:t>NFR-3  Modular firmware with headers</a:t>
            </a:r>
          </a:p>
          <a:p>
            <a:r>
              <a:rPr lang="en-US" sz="1800">
                <a:solidFill>
                  <a:srgbClr val="333333"/>
                </a:solidFill>
                <a:latin typeface="Calibri"/>
                <a:ea typeface="Calibri"/>
              </a:rPr>
              <a:t>NFR-4  Reliable at 5V with decoupling</a:t>
            </a:r>
          </a:p>
        </p:txBody>
      </p:sp>
      <p:sp>
        <p:nvSpPr>
          <p:cNvPr id="100031" name="TextBox 9"/>
          <p:cNvSpPr txBox="1"/>
          <p:nvPr/>
        </p:nvSpPr>
        <p:spPr>
          <a:xfrm>
            <a:off x="10080000" y="6300000"/>
            <a:ext cx="1800000" cy="360000"/>
          </a:xfrm>
          <a:prstGeom prst="rect">
            <a:avLst/>
          </a:prstGeom>
        </p:spPr>
        <p:txBody>
          <a:bodyPr/>
          <a:lstStyle/>
          <a:p>
            <a:pPr algn="r"/>
            <a:r>
              <a:rPr lang="en-US" sz="1200">
                <a:solidFill>
                  <a:srgbClr val="8899BB"/>
                </a:solidFill>
                <a:latin typeface="Calibri"/>
                <a:ea typeface="Calibri"/>
              </a:rPr>
              <a:t>03 / 14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32" name="TextBox 1"/>
          <p:cNvSpPr txBox="1"/>
          <p:nvPr/>
        </p:nvSpPr>
        <p:spPr>
          <a:xfrm>
            <a:off x="540000" y="288000"/>
            <a:ext cx="1080000" cy="540000"/>
          </a:xfrm>
          <a:prstGeom prst="rect">
            <a:avLst/>
          </a:prstGeom>
        </p:spPr>
        <p:txBody>
          <a:bodyPr/>
          <a:lstStyle/>
          <a:p>
            <a:r>
              <a:rPr lang="en-US" sz="3600" b="1">
                <a:solidFill>
                  <a:srgbClr val="1E2761"/>
                </a:solidFill>
                <a:latin typeface="Georgia"/>
                <a:ea typeface="Georgia"/>
              </a:rPr>
              <a:t>03</a:t>
            </a:r>
          </a:p>
        </p:txBody>
      </p:sp>
      <p:sp>
        <p:nvSpPr>
          <p:cNvPr id="100033" name="TextBox 2"/>
          <p:cNvSpPr txBox="1"/>
          <p:nvPr/>
        </p:nvSpPr>
        <p:spPr>
          <a:xfrm>
            <a:off x="1620000" y="288000"/>
            <a:ext cx="7200000" cy="540000"/>
          </a:xfrm>
          <a:prstGeom prst="rect">
            <a:avLst/>
          </a:prstGeom>
        </p:spPr>
        <p:txBody>
          <a:bodyPr/>
          <a:lstStyle/>
          <a:p>
            <a:r>
              <a:rPr lang="en-US" sz="3200" b="1">
                <a:solidFill>
                  <a:srgbClr val="1E2761"/>
                </a:solidFill>
                <a:latin typeface="Georgia"/>
                <a:ea typeface="Georgia"/>
              </a:rPr>
              <a:t>Hardware Design</a:t>
            </a:r>
          </a:p>
        </p:txBody>
      </p:sp>
      <p:sp>
        <p:nvSpPr>
          <p:cNvPr id="100034" name="TextBox 3"/>
          <p:cNvSpPr/>
          <p:nvPr/>
        </p:nvSpPr>
        <p:spPr>
          <a:xfrm>
            <a:off x="540000" y="900000"/>
            <a:ext cx="900000" cy="54000"/>
          </a:xfrm>
          <a:prstGeom prst="rect">
            <a:avLst/>
          </a:prstGeom>
          <a:solidFill>
            <a:srgbClr val="1E2761"/>
          </a:solidFill>
          <a:ln>
            <a:noFill/>
          </a:ln>
        </p:spPr>
        <p:txBody>
          <a:bodyPr/>
          <a:lstStyle/>
          <a:p>
            <a:endParaRPr/>
          </a:p>
        </p:txBody>
      </p:sp>
      <p:sp>
        <p:nvSpPr>
          <p:cNvPr id="100035" name="TextBox 4"/>
          <p:cNvSpPr/>
          <p:nvPr/>
        </p:nvSpPr>
        <p:spPr>
          <a:xfrm>
            <a:off x="540000" y="1260000"/>
            <a:ext cx="5220000" cy="2340000"/>
          </a:xfrm>
          <a:prstGeom prst="roundRect">
            <a:avLst/>
          </a:prstGeom>
          <a:solidFill>
            <a:srgbClr val="1E2761"/>
          </a:solidFill>
          <a:ln>
            <a:noFill/>
          </a:ln>
        </p:spPr>
        <p:txBody>
          <a:bodyPr/>
          <a:lstStyle/>
          <a:p>
            <a:endParaRPr/>
          </a:p>
        </p:txBody>
      </p:sp>
      <p:sp>
        <p:nvSpPr>
          <p:cNvPr id="100036" name="TextBox 5"/>
          <p:cNvSpPr txBox="1"/>
          <p:nvPr/>
        </p:nvSpPr>
        <p:spPr>
          <a:xfrm>
            <a:off x="720000" y="1368000"/>
            <a:ext cx="4860000" cy="540000"/>
          </a:xfrm>
          <a:prstGeom prst="rect">
            <a:avLst/>
          </a:prstGeom>
        </p:spPr>
        <p:txBody>
          <a:bodyPr/>
          <a:lstStyle/>
          <a:p>
            <a:r>
              <a:rPr lang="en-US" sz="2200" b="1">
                <a:solidFill>
                  <a:srgbClr val="FFFFFF"/>
                </a:solidFill>
                <a:latin typeface="Georgia"/>
                <a:ea typeface="Georgia"/>
              </a:rPr>
              <a:t>ATmega32 Core</a:t>
            </a:r>
          </a:p>
        </p:txBody>
      </p:sp>
      <p:sp>
        <p:nvSpPr>
          <p:cNvPr id="100037" name="TextBox 6"/>
          <p:cNvSpPr txBox="1"/>
          <p:nvPr/>
        </p:nvSpPr>
        <p:spPr>
          <a:xfrm>
            <a:off x="720000" y="1980000"/>
            <a:ext cx="4860000" cy="1620000"/>
          </a:xfrm>
          <a:prstGeom prst="rect">
            <a:avLst/>
          </a:prstGeom>
        </p:spPr>
        <p:txBody>
          <a:bodyPr/>
          <a:lstStyle/>
          <a:p>
            <a:r>
              <a:rPr lang="en-US" sz="1700">
                <a:solidFill>
                  <a:srgbClr val="CADCFC"/>
                </a:solidFill>
                <a:latin typeface="Calibri"/>
                <a:ea typeface="Calibri"/>
              </a:rPr>
              <a:t>MCU: ATmega32 PDIP-40 @ 8 MHz</a:t>
            </a:r>
          </a:p>
          <a:p>
            <a:r>
              <a:rPr lang="en-US" sz="1700">
                <a:solidFill>
                  <a:srgbClr val="CADCFC"/>
                </a:solidFill>
                <a:latin typeface="Calibri"/>
                <a:ea typeface="Calibri"/>
              </a:rPr>
              <a:t>Crystal: 8 MHz + 2×22pF load capacitors</a:t>
            </a:r>
          </a:p>
          <a:p>
            <a:r>
              <a:rPr lang="en-US" sz="1700">
                <a:solidFill>
                  <a:srgbClr val="CADCFC"/>
                </a:solidFill>
                <a:latin typeface="Calibri"/>
                <a:ea typeface="Calibri"/>
              </a:rPr>
              <a:t>Power: 5 V regulated with decoupling</a:t>
            </a:r>
          </a:p>
          <a:p>
            <a:r>
              <a:rPr lang="en-US" sz="1700">
                <a:solidFill>
                  <a:srgbClr val="CADCFC"/>
                </a:solidFill>
                <a:latin typeface="Calibri"/>
                <a:ea typeface="Calibri"/>
              </a:rPr>
              <a:t>Programming: USBasp via SPI (PB5–PB7)</a:t>
            </a:r>
          </a:p>
        </p:txBody>
      </p:sp>
      <p:sp>
        <p:nvSpPr>
          <p:cNvPr id="100038" name="TextBox 7"/>
          <p:cNvSpPr/>
          <p:nvPr/>
        </p:nvSpPr>
        <p:spPr>
          <a:xfrm>
            <a:off x="6120000" y="1260000"/>
            <a:ext cx="5400000" cy="2340000"/>
          </a:xfrm>
          <a:prstGeom prst="roundRect">
            <a:avLst/>
          </a:prstGeom>
          <a:solidFill>
            <a:srgbClr val="CADCFC"/>
          </a:solidFill>
          <a:ln>
            <a:noFill/>
          </a:ln>
        </p:spPr>
        <p:txBody>
          <a:bodyPr/>
          <a:lstStyle/>
          <a:p>
            <a:endParaRPr/>
          </a:p>
        </p:txBody>
      </p:sp>
      <p:sp>
        <p:nvSpPr>
          <p:cNvPr id="100039" name="TextBox 8"/>
          <p:cNvSpPr txBox="1"/>
          <p:nvPr/>
        </p:nvSpPr>
        <p:spPr>
          <a:xfrm>
            <a:off x="6300000" y="1368000"/>
            <a:ext cx="5040000" cy="540000"/>
          </a:xfrm>
          <a:prstGeom prst="rect">
            <a:avLst/>
          </a:prstGeom>
        </p:spPr>
        <p:txBody>
          <a:bodyPr/>
          <a:lstStyle/>
          <a:p>
            <a:r>
              <a:rPr lang="en-US" sz="2200" b="1">
                <a:solidFill>
                  <a:srgbClr val="1E2761"/>
                </a:solidFill>
                <a:latin typeface="Georgia"/>
                <a:ea typeface="Georgia"/>
              </a:rPr>
              <a:t>Peripherals</a:t>
            </a:r>
          </a:p>
        </p:txBody>
      </p:sp>
      <p:sp>
        <p:nvSpPr>
          <p:cNvPr id="100040" name="TextBox 9"/>
          <p:cNvSpPr txBox="1"/>
          <p:nvPr/>
        </p:nvSpPr>
        <p:spPr>
          <a:xfrm>
            <a:off x="6300000" y="1980000"/>
            <a:ext cx="5040000" cy="1620000"/>
          </a:xfrm>
          <a:prstGeom prst="rect">
            <a:avLst/>
          </a:prstGeom>
        </p:spPr>
        <p:txBody>
          <a:bodyPr/>
          <a:lstStyle/>
          <a:p>
            <a:r>
              <a:rPr lang="en-US" sz="1700">
                <a:solidFill>
                  <a:srgbClr val="333333"/>
                </a:solidFill>
                <a:latin typeface="Calibri"/>
                <a:ea typeface="Calibri"/>
              </a:rPr>
              <a:t>Status LED (PB0) — 2 s toggle</a:t>
            </a:r>
          </a:p>
          <a:p>
            <a:r>
              <a:rPr lang="en-US" sz="1700">
                <a:solidFill>
                  <a:srgbClr val="333333"/>
                </a:solidFill>
                <a:latin typeface="Calibri"/>
                <a:ea typeface="Calibri"/>
              </a:rPr>
              <a:t>Task LED (PB1) — 5 s flash</a:t>
            </a:r>
          </a:p>
          <a:p>
            <a:r>
              <a:rPr lang="en-US" sz="1700">
                <a:solidFill>
                  <a:srgbClr val="333333"/>
                </a:solidFill>
                <a:latin typeface="Calibri"/>
                <a:ea typeface="Calibri"/>
              </a:rPr>
              <a:t>SET button (PA0) — time-set mode</a:t>
            </a:r>
          </a:p>
          <a:p>
            <a:r>
              <a:rPr lang="en-US" sz="1700">
                <a:solidFill>
                  <a:srgbClr val="333333"/>
                </a:solidFill>
                <a:latin typeface="Calibri"/>
                <a:ea typeface="Calibri"/>
              </a:rPr>
              <a:t>INC button (PA1) — increment field</a:t>
            </a:r>
          </a:p>
          <a:p>
            <a:r>
              <a:rPr lang="en-US" sz="1700">
                <a:solidFill>
                  <a:srgbClr val="333333"/>
                </a:solidFill>
                <a:latin typeface="Calibri"/>
                <a:ea typeface="Calibri"/>
              </a:rPr>
              <a:t>RESET button (PA2) — clock reset</a:t>
            </a:r>
          </a:p>
          <a:p>
            <a:r>
              <a:rPr lang="en-US" sz="1700">
                <a:solidFill>
                  <a:srgbClr val="333333"/>
                </a:solidFill>
                <a:latin typeface="Calibri"/>
                <a:ea typeface="Calibri"/>
              </a:rPr>
              <a:t>USART TX (PD1) — 9600 baud output</a:t>
            </a:r>
          </a:p>
        </p:txBody>
      </p:sp>
      <p:sp>
        <p:nvSpPr>
          <p:cNvPr id="100041" name="TextBox 10"/>
          <p:cNvSpPr txBox="1"/>
          <p:nvPr/>
        </p:nvSpPr>
        <p:spPr>
          <a:xfrm>
            <a:off x="10080000" y="6300000"/>
            <a:ext cx="1800000" cy="360000"/>
          </a:xfrm>
          <a:prstGeom prst="rect">
            <a:avLst/>
          </a:prstGeom>
        </p:spPr>
        <p:txBody>
          <a:bodyPr/>
          <a:lstStyle/>
          <a:p>
            <a:pPr algn="r"/>
            <a:r>
              <a:rPr lang="en-US" sz="1200">
                <a:solidFill>
                  <a:srgbClr val="8899BB"/>
                </a:solidFill>
                <a:latin typeface="Calibri"/>
                <a:ea typeface="Calibri"/>
              </a:rPr>
              <a:t>04 / 14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42" name="TextBox 1"/>
          <p:cNvSpPr txBox="1"/>
          <p:nvPr/>
        </p:nvSpPr>
        <p:spPr>
          <a:xfrm>
            <a:off x="540000" y="288000"/>
            <a:ext cx="1080000" cy="540000"/>
          </a:xfrm>
          <a:prstGeom prst="rect">
            <a:avLst/>
          </a:prstGeom>
        </p:spPr>
        <p:txBody>
          <a:bodyPr/>
          <a:lstStyle/>
          <a:p>
            <a:r>
              <a:rPr lang="en-US" sz="3600" b="1">
                <a:solidFill>
                  <a:srgbClr val="1E2761"/>
                </a:solidFill>
                <a:latin typeface="Georgia"/>
                <a:ea typeface="Georgia"/>
              </a:rPr>
              <a:t>04</a:t>
            </a:r>
          </a:p>
        </p:txBody>
      </p:sp>
      <p:sp>
        <p:nvSpPr>
          <p:cNvPr id="100043" name="TextBox 2"/>
          <p:cNvSpPr txBox="1"/>
          <p:nvPr/>
        </p:nvSpPr>
        <p:spPr>
          <a:xfrm>
            <a:off x="1620000" y="288000"/>
            <a:ext cx="7200000" cy="540000"/>
          </a:xfrm>
          <a:prstGeom prst="rect">
            <a:avLst/>
          </a:prstGeom>
        </p:spPr>
        <p:txBody>
          <a:bodyPr/>
          <a:lstStyle/>
          <a:p>
            <a:r>
              <a:rPr lang="en-US" sz="3200" b="1">
                <a:solidFill>
                  <a:srgbClr val="1E2761"/>
                </a:solidFill>
                <a:latin typeface="Georgia"/>
                <a:ea typeface="Georgia"/>
              </a:rPr>
              <a:t>Timer Configuration</a:t>
            </a:r>
          </a:p>
        </p:txBody>
      </p:sp>
      <p:sp>
        <p:nvSpPr>
          <p:cNvPr id="100044" name="TextBox 3"/>
          <p:cNvSpPr/>
          <p:nvPr/>
        </p:nvSpPr>
        <p:spPr>
          <a:xfrm>
            <a:off x="540000" y="900000"/>
            <a:ext cx="900000" cy="54000"/>
          </a:xfrm>
          <a:prstGeom prst="rect">
            <a:avLst/>
          </a:prstGeom>
          <a:solidFill>
            <a:srgbClr val="1E2761"/>
          </a:solidFill>
          <a:ln>
            <a:noFill/>
          </a:ln>
        </p:spPr>
        <p:txBody>
          <a:bodyPr/>
          <a:lstStyle/>
          <a:p>
            <a:endParaRPr/>
          </a:p>
        </p:txBody>
      </p:sp>
      <p:sp>
        <p:nvSpPr>
          <p:cNvPr id="100045" name="TextBox 4"/>
          <p:cNvSpPr txBox="1"/>
          <p:nvPr/>
        </p:nvSpPr>
        <p:spPr>
          <a:xfrm>
            <a:off x="540000" y="1152000"/>
            <a:ext cx="10800000" cy="432000"/>
          </a:xfrm>
          <a:prstGeom prst="rect">
            <a:avLst/>
          </a:prstGeom>
        </p:spPr>
        <p:txBody>
          <a:bodyPr/>
          <a:lstStyle/>
          <a:p>
            <a:r>
              <a:rPr lang="en-US" sz="2200" b="1">
                <a:solidFill>
                  <a:srgbClr val="1E2761"/>
                </a:solidFill>
                <a:latin typeface="Georgia"/>
                <a:ea typeface="Georgia"/>
              </a:rPr>
              <a:t>Timer1 (16-bit) — CTC Mode</a:t>
            </a:r>
          </a:p>
        </p:txBody>
      </p:sp>
      <p:sp>
        <p:nvSpPr>
          <p:cNvPr id="100046" name="TextBox 5"/>
          <p:cNvSpPr txBox="1"/>
          <p:nvPr/>
        </p:nvSpPr>
        <p:spPr>
          <a:xfrm>
            <a:off x="540000" y="1620000"/>
            <a:ext cx="10800000" cy="1080000"/>
          </a:xfrm>
          <a:prstGeom prst="rect">
            <a:avLst/>
          </a:prstGeom>
        </p:spPr>
        <p:txBody>
          <a:bodyPr/>
          <a:lstStyle/>
          <a:p>
            <a:r>
              <a:rPr lang="en-US" sz="1800">
                <a:solidFill>
                  <a:srgbClr val="333333"/>
                </a:solidFill>
                <a:latin typeface="Calibri"/>
                <a:ea typeface="Calibri"/>
              </a:rPr>
              <a:t>Timer1's 16-bit resolution allows a direct compare-match value for a 1-second interrupt at 8 MHz with a 1024 prescaler — no overflow or software-divider tricks needed. CTC mode auto-resets on compare match, eliminating manual reload drift.</a:t>
            </a:r>
          </a:p>
        </p:txBody>
      </p:sp>
      <p:sp>
        <p:nvSpPr>
          <p:cNvPr id="100047" name="TextBox 6"/>
          <p:cNvSpPr/>
          <p:nvPr/>
        </p:nvSpPr>
        <p:spPr>
          <a:xfrm>
            <a:off x="540000" y="3060000"/>
            <a:ext cx="11113200" cy="2880000"/>
          </a:xfrm>
          <a:prstGeom prst="roundRect">
            <a:avLst/>
          </a:prstGeom>
          <a:solidFill>
            <a:srgbClr val="1E2761"/>
          </a:solidFill>
          <a:ln>
            <a:noFill/>
          </a:ln>
        </p:spPr>
        <p:txBody>
          <a:bodyPr/>
          <a:lstStyle/>
          <a:p>
            <a:endParaRPr/>
          </a:p>
        </p:txBody>
      </p:sp>
      <p:sp>
        <p:nvSpPr>
          <p:cNvPr id="100048" name="TextBox 7"/>
          <p:cNvSpPr txBox="1"/>
          <p:nvPr/>
        </p:nvSpPr>
        <p:spPr>
          <a:xfrm>
            <a:off x="720000" y="3168000"/>
            <a:ext cx="10440000" cy="540000"/>
          </a:xfrm>
          <a:prstGeom prst="rect">
            <a:avLst/>
          </a:prstGeom>
        </p:spPr>
        <p:txBody>
          <a:bodyPr/>
          <a:lstStyle/>
          <a:p>
            <a:r>
              <a:rPr lang="en-US" sz="2200" b="1">
                <a:solidFill>
                  <a:srgbClr val="FFFFFF"/>
                </a:solidFill>
                <a:latin typeface="Georgia"/>
                <a:ea typeface="Georgia"/>
              </a:rPr>
              <a:t>Compare Match Calculation</a:t>
            </a:r>
          </a:p>
        </p:txBody>
      </p:sp>
      <p:sp>
        <p:nvSpPr>
          <p:cNvPr id="100049" name="TextBox 8"/>
          <p:cNvSpPr txBox="1"/>
          <p:nvPr/>
        </p:nvSpPr>
        <p:spPr>
          <a:xfrm>
            <a:off x="720000" y="3780000"/>
            <a:ext cx="10440000" cy="432000"/>
          </a:xfrm>
          <a:prstGeom prst="rect">
            <a:avLst/>
          </a:prstGeom>
        </p:spPr>
        <p:txBody>
          <a:bodyPr/>
          <a:lstStyle/>
          <a:p>
            <a:r>
              <a:rPr lang="en-US" sz="1800">
                <a:solidFill>
                  <a:srgbClr val="CADCFC"/>
                </a:solidFill>
                <a:latin typeface="Consolas"/>
                <a:ea typeface="Consolas"/>
              </a:rPr>
              <a:t>OCR1A = (F_CPU / (Prescaler × f_target)) − 1</a:t>
            </a:r>
          </a:p>
        </p:txBody>
      </p:sp>
      <p:sp>
        <p:nvSpPr>
          <p:cNvPr id="100050" name="TextBox 9"/>
          <p:cNvSpPr txBox="1"/>
          <p:nvPr/>
        </p:nvSpPr>
        <p:spPr>
          <a:xfrm>
            <a:off x="720000" y="4320000"/>
            <a:ext cx="10440000" cy="432000"/>
          </a:xfrm>
          <a:prstGeom prst="rect">
            <a:avLst/>
          </a:prstGeom>
        </p:spPr>
        <p:txBody>
          <a:bodyPr/>
          <a:lstStyle/>
          <a:p>
            <a:r>
              <a:rPr lang="en-US" sz="1800">
                <a:solidFill>
                  <a:srgbClr val="FFFFFF"/>
                </a:solidFill>
                <a:latin typeface="Consolas"/>
                <a:ea typeface="Consolas"/>
              </a:rPr>
              <a:t>OCR1A = (8,000,000 / (1024 × 1)) − 1  =  7812.5 − 1  →  7812</a:t>
            </a:r>
          </a:p>
        </p:txBody>
      </p:sp>
      <p:sp>
        <p:nvSpPr>
          <p:cNvPr id="100051" name="TextBox 10"/>
          <p:cNvSpPr txBox="1"/>
          <p:nvPr/>
        </p:nvSpPr>
        <p:spPr>
          <a:xfrm>
            <a:off x="720000" y="4968000"/>
            <a:ext cx="10440000" cy="432000"/>
          </a:xfrm>
          <a:prstGeom prst="rect">
            <a:avLst/>
          </a:prstGeom>
        </p:spPr>
        <p:txBody>
          <a:bodyPr/>
          <a:lstStyle/>
          <a:p>
            <a:r>
              <a:rPr lang="en-US" sz="1800">
                <a:solidFill>
                  <a:srgbClr val="CADCFC"/>
                </a:solidFill>
                <a:latin typeface="Calibri"/>
                <a:ea typeface="Calibri"/>
              </a:rPr>
              <a:t>Actual frequency:  1.0000086 Hz  |  Drift: ~1 s / 13 days</a:t>
            </a:r>
          </a:p>
        </p:txBody>
      </p:sp>
      <p:sp>
        <p:nvSpPr>
          <p:cNvPr id="100052" name="TextBox 11"/>
          <p:cNvSpPr txBox="1"/>
          <p:nvPr/>
        </p:nvSpPr>
        <p:spPr>
          <a:xfrm>
            <a:off x="10080000" y="6300000"/>
            <a:ext cx="1800000" cy="360000"/>
          </a:xfrm>
          <a:prstGeom prst="rect">
            <a:avLst/>
          </a:prstGeom>
        </p:spPr>
        <p:txBody>
          <a:bodyPr/>
          <a:lstStyle/>
          <a:p>
            <a:pPr algn="r"/>
            <a:r>
              <a:rPr lang="en-US" sz="1200">
                <a:solidFill>
                  <a:srgbClr val="8899BB"/>
                </a:solidFill>
                <a:latin typeface="Calibri"/>
                <a:ea typeface="Calibri"/>
              </a:rPr>
              <a:t>05 / 14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53" name="TextBox 1"/>
          <p:cNvSpPr txBox="1"/>
          <p:nvPr/>
        </p:nvSpPr>
        <p:spPr>
          <a:xfrm>
            <a:off x="540000" y="288000"/>
            <a:ext cx="1080000" cy="540000"/>
          </a:xfrm>
          <a:prstGeom prst="rect">
            <a:avLst/>
          </a:prstGeom>
        </p:spPr>
        <p:txBody>
          <a:bodyPr/>
          <a:lstStyle/>
          <a:p>
            <a:r>
              <a:rPr lang="en-US" sz="3600" b="1">
                <a:solidFill>
                  <a:srgbClr val="1E2761"/>
                </a:solidFill>
                <a:latin typeface="Georgia"/>
                <a:ea typeface="Georgia"/>
              </a:rPr>
              <a:t>05</a:t>
            </a:r>
          </a:p>
        </p:txBody>
      </p:sp>
      <p:sp>
        <p:nvSpPr>
          <p:cNvPr id="100054" name="TextBox 2"/>
          <p:cNvSpPr txBox="1"/>
          <p:nvPr/>
        </p:nvSpPr>
        <p:spPr>
          <a:xfrm>
            <a:off x="1620000" y="288000"/>
            <a:ext cx="7200000" cy="540000"/>
          </a:xfrm>
          <a:prstGeom prst="rect">
            <a:avLst/>
          </a:prstGeom>
        </p:spPr>
        <p:txBody>
          <a:bodyPr/>
          <a:lstStyle/>
          <a:p>
            <a:r>
              <a:rPr lang="en-US" sz="3200" b="1">
                <a:solidFill>
                  <a:srgbClr val="1E2761"/>
                </a:solidFill>
                <a:latin typeface="Georgia"/>
                <a:ea typeface="Georgia"/>
              </a:rPr>
              <a:t>Pin Mapping</a:t>
            </a:r>
          </a:p>
        </p:txBody>
      </p:sp>
      <p:sp>
        <p:nvSpPr>
          <p:cNvPr id="100055" name="TextBox 3"/>
          <p:cNvSpPr/>
          <p:nvPr/>
        </p:nvSpPr>
        <p:spPr>
          <a:xfrm>
            <a:off x="540000" y="900000"/>
            <a:ext cx="900000" cy="54000"/>
          </a:xfrm>
          <a:prstGeom prst="rect">
            <a:avLst/>
          </a:prstGeom>
          <a:solidFill>
            <a:srgbClr val="1E2761"/>
          </a:solidFill>
          <a:ln>
            <a:noFill/>
          </a:ln>
        </p:spPr>
        <p:txBody>
          <a:bodyPr/>
          <a:lstStyle/>
          <a:p>
            <a:endParaRPr/>
          </a:p>
        </p:txBody>
      </p:sp>
      <p:sp>
        <p:nvSpPr>
          <p:cNvPr id="100056" name="TextBox 4"/>
          <p:cNvSpPr/>
          <p:nvPr/>
        </p:nvSpPr>
        <p:spPr>
          <a:xfrm>
            <a:off x="540000" y="1260000"/>
            <a:ext cx="5220000" cy="2340000"/>
          </a:xfrm>
          <a:prstGeom prst="roundRect">
            <a:avLst/>
          </a:prstGeom>
          <a:solidFill>
            <a:srgbClr val="1E2761"/>
          </a:solidFill>
          <a:ln>
            <a:noFill/>
          </a:ln>
        </p:spPr>
        <p:txBody>
          <a:bodyPr/>
          <a:lstStyle/>
          <a:p>
            <a:endParaRPr/>
          </a:p>
        </p:txBody>
      </p:sp>
      <p:sp>
        <p:nvSpPr>
          <p:cNvPr id="100057" name="TextBox 5"/>
          <p:cNvSpPr txBox="1"/>
          <p:nvPr/>
        </p:nvSpPr>
        <p:spPr>
          <a:xfrm>
            <a:off x="720000" y="1368000"/>
            <a:ext cx="4860000" cy="432000"/>
          </a:xfrm>
          <a:prstGeom prst="rect">
            <a:avLst/>
          </a:prstGeom>
        </p:spPr>
        <p:txBody>
          <a:bodyPr/>
          <a:lstStyle/>
          <a:p>
            <a:r>
              <a:rPr lang="en-US" sz="2000" b="1">
                <a:solidFill>
                  <a:srgbClr val="FFFFFF"/>
                </a:solidFill>
                <a:latin typeface="Georgia"/>
                <a:ea typeface="Georgia"/>
              </a:rPr>
              <a:t>Inputs (PORTA)</a:t>
            </a:r>
          </a:p>
        </p:txBody>
      </p:sp>
      <p:sp>
        <p:nvSpPr>
          <p:cNvPr id="100058" name="TextBox 6"/>
          <p:cNvSpPr txBox="1"/>
          <p:nvPr/>
        </p:nvSpPr>
        <p:spPr>
          <a:xfrm>
            <a:off x="720000" y="1872000"/>
            <a:ext cx="4860000" cy="1620000"/>
          </a:xfrm>
          <a:prstGeom prst="rect">
            <a:avLst/>
          </a:prstGeom>
        </p:spPr>
        <p:txBody>
          <a:bodyPr/>
          <a:lstStyle/>
          <a:p>
            <a:r>
              <a:rPr lang="en-US" sz="1700">
                <a:solidFill>
                  <a:srgbClr val="CADCFC"/>
                </a:solidFill>
                <a:latin typeface="Calibri"/>
                <a:ea typeface="Calibri"/>
              </a:rPr>
              <a:t>PA0 — SET button (time-set mode)</a:t>
            </a:r>
          </a:p>
          <a:p>
            <a:r>
              <a:rPr lang="en-US" sz="1700">
                <a:solidFill>
                  <a:srgbClr val="CADCFC"/>
                </a:solidFill>
                <a:latin typeface="Calibri"/>
                <a:ea typeface="Calibri"/>
              </a:rPr>
              <a:t>PA1 — INC button (increment field)</a:t>
            </a:r>
          </a:p>
          <a:p>
            <a:r>
              <a:rPr lang="en-US" sz="1700">
                <a:solidFill>
                  <a:srgbClr val="CADCFC"/>
                </a:solidFill>
                <a:latin typeface="Calibri"/>
                <a:ea typeface="Calibri"/>
              </a:rPr>
              <a:t>PA2 — RESET button (clock reset)</a:t>
            </a:r>
          </a:p>
          <a:p>
            <a:r>
              <a:rPr lang="en-US" sz="1700">
                <a:solidFill>
                  <a:srgbClr val="CADCFC"/>
                </a:solidFill>
                <a:latin typeface="Calibri"/>
                <a:ea typeface="Calibri"/>
              </a:rPr>
              <a:t>Active-low with 10 kΩ pull-ups</a:t>
            </a:r>
          </a:p>
        </p:txBody>
      </p:sp>
      <p:sp>
        <p:nvSpPr>
          <p:cNvPr id="100059" name="TextBox 7"/>
          <p:cNvSpPr/>
          <p:nvPr/>
        </p:nvSpPr>
        <p:spPr>
          <a:xfrm>
            <a:off x="6120000" y="1260000"/>
            <a:ext cx="5400000" cy="2340000"/>
          </a:xfrm>
          <a:prstGeom prst="roundRect">
            <a:avLst/>
          </a:prstGeom>
          <a:solidFill>
            <a:srgbClr val="CADCFC"/>
          </a:solidFill>
          <a:ln>
            <a:noFill/>
          </a:ln>
        </p:spPr>
        <p:txBody>
          <a:bodyPr/>
          <a:lstStyle/>
          <a:p>
            <a:endParaRPr/>
          </a:p>
        </p:txBody>
      </p:sp>
      <p:sp>
        <p:nvSpPr>
          <p:cNvPr id="100060" name="TextBox 8"/>
          <p:cNvSpPr txBox="1"/>
          <p:nvPr/>
        </p:nvSpPr>
        <p:spPr>
          <a:xfrm>
            <a:off x="6300000" y="1368000"/>
            <a:ext cx="5040000" cy="432000"/>
          </a:xfrm>
          <a:prstGeom prst="rect">
            <a:avLst/>
          </a:prstGeom>
        </p:spPr>
        <p:txBody>
          <a:bodyPr/>
          <a:lstStyle/>
          <a:p>
            <a:r>
              <a:rPr lang="en-US" sz="2000" b="1">
                <a:solidFill>
                  <a:srgbClr val="1E2761"/>
                </a:solidFill>
                <a:latin typeface="Georgia"/>
                <a:ea typeface="Georgia"/>
              </a:rPr>
              <a:t>Outputs (PORTB, PORTD)</a:t>
            </a:r>
          </a:p>
        </p:txBody>
      </p:sp>
      <p:sp>
        <p:nvSpPr>
          <p:cNvPr id="100061" name="TextBox 9"/>
          <p:cNvSpPr txBox="1"/>
          <p:nvPr/>
        </p:nvSpPr>
        <p:spPr>
          <a:xfrm>
            <a:off x="6300000" y="1872000"/>
            <a:ext cx="5040000" cy="1620000"/>
          </a:xfrm>
          <a:prstGeom prst="rect">
            <a:avLst/>
          </a:prstGeom>
        </p:spPr>
        <p:txBody>
          <a:bodyPr/>
          <a:lstStyle/>
          <a:p>
            <a:r>
              <a:rPr lang="en-US" sz="1700">
                <a:solidFill>
                  <a:srgbClr val="333333"/>
                </a:solidFill>
                <a:latin typeface="Calibri"/>
                <a:ea typeface="Calibri"/>
              </a:rPr>
              <a:t>PB0 — Status LED (2 s toggle)</a:t>
            </a:r>
          </a:p>
          <a:p>
            <a:r>
              <a:rPr lang="en-US" sz="1700">
                <a:solidFill>
                  <a:srgbClr val="333333"/>
                </a:solidFill>
                <a:latin typeface="Calibri"/>
                <a:ea typeface="Calibri"/>
              </a:rPr>
              <a:t>PB1 — Task LED (5 s flash)</a:t>
            </a:r>
          </a:p>
          <a:p>
            <a:r>
              <a:rPr lang="en-US" sz="1700">
                <a:solidFill>
                  <a:srgbClr val="333333"/>
                </a:solidFill>
                <a:latin typeface="Calibri"/>
                <a:ea typeface="Calibri"/>
              </a:rPr>
              <a:t>PD1 — USART TX (9600 baud)</a:t>
            </a:r>
          </a:p>
          <a:p>
            <a:r>
              <a:rPr lang="en-US" sz="1700">
                <a:solidFill>
                  <a:srgbClr val="333333"/>
                </a:solidFill>
                <a:latin typeface="Calibri"/>
                <a:ea typeface="Calibri"/>
              </a:rPr>
              <a:t>Active-high LEDs with 220 Ω resistors</a:t>
            </a:r>
          </a:p>
        </p:txBody>
      </p:sp>
      <p:sp>
        <p:nvSpPr>
          <p:cNvPr id="100062" name="TextBox 10"/>
          <p:cNvSpPr/>
          <p:nvPr/>
        </p:nvSpPr>
        <p:spPr>
          <a:xfrm>
            <a:off x="540000" y="3780000"/>
            <a:ext cx="11113200" cy="2340000"/>
          </a:xfrm>
          <a:prstGeom prst="roundRect">
            <a:avLst/>
          </a:prstGeom>
          <a:solidFill>
            <a:srgbClr val="F5F7FA"/>
          </a:solidFill>
          <a:ln>
            <a:noFill/>
          </a:ln>
        </p:spPr>
        <p:txBody>
          <a:bodyPr/>
          <a:lstStyle/>
          <a:p>
            <a:endParaRPr/>
          </a:p>
        </p:txBody>
      </p:sp>
      <p:sp>
        <p:nvSpPr>
          <p:cNvPr id="100063" name="TextBox 11"/>
          <p:cNvSpPr txBox="1"/>
          <p:nvPr/>
        </p:nvSpPr>
        <p:spPr>
          <a:xfrm>
            <a:off x="720000" y="3888000"/>
            <a:ext cx="5040000" cy="432000"/>
          </a:xfrm>
          <a:prstGeom prst="rect">
            <a:avLst/>
          </a:prstGeom>
        </p:spPr>
        <p:txBody>
          <a:bodyPr/>
          <a:lstStyle/>
          <a:p>
            <a:r>
              <a:rPr lang="en-US" sz="2000" b="1">
                <a:solidFill>
                  <a:srgbClr val="1E2761"/>
                </a:solidFill>
                <a:latin typeface="Georgia"/>
                <a:ea typeface="Georgia"/>
              </a:rPr>
              <a:t>Power &amp; Clock</a:t>
            </a:r>
          </a:p>
        </p:txBody>
      </p:sp>
      <p:sp>
        <p:nvSpPr>
          <p:cNvPr id="100064" name="TextBox 12"/>
          <p:cNvSpPr txBox="1"/>
          <p:nvPr/>
        </p:nvSpPr>
        <p:spPr>
          <a:xfrm>
            <a:off x="720000" y="4392000"/>
            <a:ext cx="10440000" cy="1620000"/>
          </a:xfrm>
          <a:prstGeom prst="rect">
            <a:avLst/>
          </a:prstGeom>
        </p:spPr>
        <p:txBody>
          <a:bodyPr/>
          <a:lstStyle/>
          <a:p>
            <a:r>
              <a:rPr lang="en-US" sz="1700">
                <a:solidFill>
                  <a:srgbClr val="333333"/>
                </a:solidFill>
                <a:latin typeface="Calibri"/>
                <a:ea typeface="Calibri"/>
              </a:rPr>
              <a:t>VCC (pin 10) — 5 V supply    |    AVCC (pin 30) — 5 V with decoupling</a:t>
            </a:r>
          </a:p>
          <a:p>
            <a:r>
              <a:rPr lang="en-US" sz="1700">
                <a:solidFill>
                  <a:srgbClr val="333333"/>
                </a:solidFill>
                <a:latin typeface="Calibri"/>
                <a:ea typeface="Calibri"/>
              </a:rPr>
              <a:t>XTAL1/XTAL2 (pins 13/12) — 8 MHz crystal + 22 pF caps</a:t>
            </a:r>
          </a:p>
          <a:p>
            <a:r>
              <a:rPr lang="en-US" sz="1700">
                <a:solidFill>
                  <a:srgbClr val="333333"/>
                </a:solidFill>
                <a:latin typeface="Calibri"/>
                <a:ea typeface="Calibri"/>
              </a:rPr>
              <a:t>RESET (pin 9) — pull-up + push button</a:t>
            </a:r>
          </a:p>
          <a:p>
            <a:r>
              <a:rPr lang="en-US" sz="1700">
                <a:solidFill>
                  <a:srgbClr val="333333"/>
                </a:solidFill>
                <a:latin typeface="Calibri"/>
                <a:ea typeface="Calibri"/>
              </a:rPr>
              <a:t>GND (pins 8, 22, 31) — common ground</a:t>
            </a:r>
          </a:p>
        </p:txBody>
      </p:sp>
      <p:sp>
        <p:nvSpPr>
          <p:cNvPr id="100065" name="TextBox 13"/>
          <p:cNvSpPr txBox="1"/>
          <p:nvPr/>
        </p:nvSpPr>
        <p:spPr>
          <a:xfrm>
            <a:off x="10080000" y="6300000"/>
            <a:ext cx="1800000" cy="360000"/>
          </a:xfrm>
          <a:prstGeom prst="rect">
            <a:avLst/>
          </a:prstGeom>
        </p:spPr>
        <p:txBody>
          <a:bodyPr/>
          <a:lstStyle/>
          <a:p>
            <a:pPr algn="r"/>
            <a:r>
              <a:rPr lang="en-US" sz="1200">
                <a:solidFill>
                  <a:srgbClr val="8899BB"/>
                </a:solidFill>
                <a:latin typeface="Calibri"/>
                <a:ea typeface="Calibri"/>
              </a:rPr>
              <a:t>06 / 14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66" name="TextBox 1"/>
          <p:cNvSpPr txBox="1"/>
          <p:nvPr/>
        </p:nvSpPr>
        <p:spPr>
          <a:xfrm>
            <a:off x="540000" y="288000"/>
            <a:ext cx="1080000" cy="540000"/>
          </a:xfrm>
          <a:prstGeom prst="rect">
            <a:avLst/>
          </a:prstGeom>
        </p:spPr>
        <p:txBody>
          <a:bodyPr/>
          <a:lstStyle/>
          <a:p>
            <a:r>
              <a:rPr lang="en-US" sz="3600" b="1">
                <a:solidFill>
                  <a:srgbClr val="1E2761"/>
                </a:solidFill>
                <a:latin typeface="Georgia"/>
                <a:ea typeface="Georgia"/>
              </a:rPr>
              <a:t>06</a:t>
            </a:r>
          </a:p>
        </p:txBody>
      </p:sp>
      <p:sp>
        <p:nvSpPr>
          <p:cNvPr id="100067" name="TextBox 2"/>
          <p:cNvSpPr txBox="1"/>
          <p:nvPr/>
        </p:nvSpPr>
        <p:spPr>
          <a:xfrm>
            <a:off x="1620000" y="288000"/>
            <a:ext cx="7200000" cy="540000"/>
          </a:xfrm>
          <a:prstGeom prst="rect">
            <a:avLst/>
          </a:prstGeom>
        </p:spPr>
        <p:txBody>
          <a:bodyPr/>
          <a:lstStyle/>
          <a:p>
            <a:r>
              <a:rPr lang="en-US" sz="3200" b="1">
                <a:solidFill>
                  <a:srgbClr val="1E2761"/>
                </a:solidFill>
                <a:latin typeface="Georgia"/>
                <a:ea typeface="Georgia"/>
              </a:rPr>
              <a:t>KiCad Schematic</a:t>
            </a:r>
          </a:p>
        </p:txBody>
      </p:sp>
      <p:sp>
        <p:nvSpPr>
          <p:cNvPr id="100068" name="TextBox 3"/>
          <p:cNvSpPr/>
          <p:nvPr/>
        </p:nvSpPr>
        <p:spPr>
          <a:xfrm>
            <a:off x="540000" y="900000"/>
            <a:ext cx="900000" cy="54000"/>
          </a:xfrm>
          <a:prstGeom prst="rect">
            <a:avLst/>
          </a:prstGeom>
          <a:solidFill>
            <a:srgbClr val="1E2761"/>
          </a:solidFill>
          <a:ln>
            <a:noFill/>
          </a:ln>
        </p:spPr>
        <p:txBody>
          <a:bodyPr/>
          <a:lstStyle/>
          <a:p>
            <a:endParaRPr/>
          </a:p>
        </p:txBody>
      </p:sp>
      <p:sp>
        <p:nvSpPr>
          <p:cNvPr id="100069" name="TextBox 4"/>
          <p:cNvSpPr txBox="1"/>
          <p:nvPr/>
        </p:nvSpPr>
        <p:spPr>
          <a:xfrm>
            <a:off x="540000" y="1152000"/>
            <a:ext cx="10800000" cy="720000"/>
          </a:xfrm>
          <a:prstGeom prst="rect">
            <a:avLst/>
          </a:prstGeom>
        </p:spPr>
        <p:txBody>
          <a:bodyPr/>
          <a:lstStyle/>
          <a:p>
            <a:r>
              <a:rPr lang="en-US" sz="1800">
                <a:solidFill>
                  <a:srgbClr val="333333"/>
                </a:solidFill>
                <a:latin typeface="Calibri"/>
                <a:ea typeface="Calibri"/>
              </a:rPr>
              <a:t>Schematic includes ATmega32 with all required peripherals, net labels, and decoupling per the assignment specification.</a:t>
            </a:r>
          </a:p>
        </p:txBody>
      </p:sp>
      <p:sp>
        <p:nvSpPr>
          <p:cNvPr id="100070" name="TextBox 5"/>
          <p:cNvSpPr/>
          <p:nvPr/>
        </p:nvSpPr>
        <p:spPr>
          <a:xfrm>
            <a:off x="540000" y="1980000"/>
            <a:ext cx="11113200" cy="4140000"/>
          </a:xfrm>
          <a:prstGeom prst="roundRect">
            <a:avLst/>
          </a:prstGeom>
          <a:solidFill>
            <a:srgbClr val="F5F7FA"/>
          </a:solidFill>
          <a:ln>
            <a:noFill/>
          </a:ln>
        </p:spPr>
        <p:txBody>
          <a:bodyPr/>
          <a:lstStyle/>
          <a:p>
            <a:endParaRPr/>
          </a:p>
        </p:txBody>
      </p:sp>
      <p:sp>
        <p:nvSpPr>
          <p:cNvPr id="100071" name="TextBox 6"/>
          <p:cNvSpPr txBox="1"/>
          <p:nvPr/>
        </p:nvSpPr>
        <p:spPr>
          <a:xfrm>
            <a:off x="720000" y="2088000"/>
            <a:ext cx="5040000" cy="432000"/>
          </a:xfrm>
          <a:prstGeom prst="rect">
            <a:avLst/>
          </a:prstGeom>
        </p:spPr>
        <p:txBody>
          <a:bodyPr/>
          <a:lstStyle/>
          <a:p>
            <a:r>
              <a:rPr lang="en-US" sz="2000" b="1">
                <a:solidFill>
                  <a:srgbClr val="1E2761"/>
                </a:solidFill>
                <a:latin typeface="Georgia"/>
                <a:ea typeface="Georgia"/>
              </a:rPr>
              <a:t>Components in Schematic</a:t>
            </a:r>
          </a:p>
        </p:txBody>
      </p:sp>
      <p:sp>
        <p:nvSpPr>
          <p:cNvPr id="100072" name="TextBox 7"/>
          <p:cNvSpPr txBox="1"/>
          <p:nvPr/>
        </p:nvSpPr>
        <p:spPr>
          <a:xfrm>
            <a:off x="720000" y="2592000"/>
            <a:ext cx="10440000" cy="2880000"/>
          </a:xfrm>
          <a:prstGeom prst="rect">
            <a:avLst/>
          </a:prstGeom>
        </p:spPr>
        <p:txBody>
          <a:bodyPr/>
          <a:lstStyle/>
          <a:p>
            <a:r>
              <a:rPr lang="en-US" sz="1700">
                <a:solidFill>
                  <a:srgbClr val="333333"/>
                </a:solidFill>
                <a:latin typeface="Calibri"/>
                <a:ea typeface="Calibri"/>
              </a:rPr>
              <a:t>✓ ATmega32 with labelled GPIO pins</a:t>
            </a:r>
          </a:p>
          <a:p>
            <a:r>
              <a:rPr lang="en-US" sz="1700">
                <a:solidFill>
                  <a:srgbClr val="333333"/>
                </a:solidFill>
                <a:latin typeface="Calibri"/>
                <a:ea typeface="Calibri"/>
              </a:rPr>
              <a:t>✓ 8 MHz crystal + 22 pF load capacitors</a:t>
            </a:r>
          </a:p>
          <a:p>
            <a:r>
              <a:rPr lang="en-US" sz="1700">
                <a:solidFill>
                  <a:srgbClr val="333333"/>
                </a:solidFill>
                <a:latin typeface="Calibri"/>
                <a:ea typeface="Calibri"/>
              </a:rPr>
              <a:t>✓ Status LED (PB0) + Task LED (PB1) with 220 Ω resistors</a:t>
            </a:r>
          </a:p>
          <a:p>
            <a:r>
              <a:rPr lang="en-US" sz="1700">
                <a:solidFill>
                  <a:srgbClr val="333333"/>
                </a:solidFill>
                <a:latin typeface="Calibri"/>
                <a:ea typeface="Calibri"/>
              </a:rPr>
              <a:t>✓ SET/INC/RESET buttons with 10 kΩ pull-ups</a:t>
            </a:r>
          </a:p>
          <a:p>
            <a:r>
              <a:rPr lang="en-US" sz="1700">
                <a:solidFill>
                  <a:srgbClr val="333333"/>
                </a:solidFill>
                <a:latin typeface="Calibri"/>
                <a:ea typeface="Calibri"/>
              </a:rPr>
              <a:t>✓ USART header (PD0/PD1) for serial output</a:t>
            </a:r>
          </a:p>
          <a:p>
            <a:r>
              <a:rPr lang="en-US" sz="1700">
                <a:solidFill>
                  <a:srgbClr val="333333"/>
                </a:solidFill>
                <a:latin typeface="Calibri"/>
                <a:ea typeface="Calibri"/>
              </a:rPr>
              <a:t>✓ Reset circuit with pull-up resistor</a:t>
            </a:r>
          </a:p>
          <a:p>
            <a:r>
              <a:rPr lang="en-US" sz="1700">
                <a:solidFill>
                  <a:srgbClr val="333333"/>
                </a:solidFill>
                <a:latin typeface="Calibri"/>
                <a:ea typeface="Calibri"/>
              </a:rPr>
              <a:t>✓ Decoupling capacitors on VCC, AVCC, AREF</a:t>
            </a:r>
          </a:p>
          <a:p>
            <a:r>
              <a:rPr lang="en-US" sz="1700">
                <a:solidFill>
                  <a:srgbClr val="333333"/>
                </a:solidFill>
                <a:latin typeface="Calibri"/>
                <a:ea typeface="Calibri"/>
              </a:rPr>
              <a:t>✓ Net labels: SET_BTN, INC_BTN, CLOCK_RESET,</a:t>
            </a:r>
          </a:p>
          <a:p>
            <a:r>
              <a:rPr lang="en-US" sz="1700">
                <a:solidFill>
                  <a:srgbClr val="333333"/>
                </a:solidFill>
                <a:latin typeface="Calibri"/>
                <a:ea typeface="Calibri"/>
              </a:rPr>
              <a:t>   LED_STATUS, LED_TASK, USART_TXD</a:t>
            </a:r>
          </a:p>
        </p:txBody>
      </p:sp>
      <p:sp>
        <p:nvSpPr>
          <p:cNvPr id="100073" name="TextBox 8"/>
          <p:cNvSpPr txBox="1"/>
          <p:nvPr/>
        </p:nvSpPr>
        <p:spPr>
          <a:xfrm>
            <a:off x="10080000" y="6300000"/>
            <a:ext cx="1800000" cy="360000"/>
          </a:xfrm>
          <a:prstGeom prst="rect">
            <a:avLst/>
          </a:prstGeom>
        </p:spPr>
        <p:txBody>
          <a:bodyPr/>
          <a:lstStyle/>
          <a:p>
            <a:pPr algn="r"/>
            <a:r>
              <a:rPr lang="en-US" sz="1200">
                <a:solidFill>
                  <a:srgbClr val="8899BB"/>
                </a:solidFill>
                <a:latin typeface="Calibri"/>
                <a:ea typeface="Calibri"/>
              </a:rPr>
              <a:t>07 / 14</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74" name="TextBox 1"/>
          <p:cNvSpPr txBox="1"/>
          <p:nvPr/>
        </p:nvSpPr>
        <p:spPr>
          <a:xfrm>
            <a:off x="540000" y="288000"/>
            <a:ext cx="1080000" cy="540000"/>
          </a:xfrm>
          <a:prstGeom prst="rect">
            <a:avLst/>
          </a:prstGeom>
        </p:spPr>
        <p:txBody>
          <a:bodyPr/>
          <a:lstStyle/>
          <a:p>
            <a:r>
              <a:rPr lang="en-US" sz="3600" b="1">
                <a:solidFill>
                  <a:srgbClr val="1E2761"/>
                </a:solidFill>
                <a:latin typeface="Georgia"/>
                <a:ea typeface="Georgia"/>
              </a:rPr>
              <a:t>07</a:t>
            </a:r>
          </a:p>
        </p:txBody>
      </p:sp>
      <p:sp>
        <p:nvSpPr>
          <p:cNvPr id="100075" name="TextBox 2"/>
          <p:cNvSpPr txBox="1"/>
          <p:nvPr/>
        </p:nvSpPr>
        <p:spPr>
          <a:xfrm>
            <a:off x="1620000" y="288000"/>
            <a:ext cx="7200000" cy="540000"/>
          </a:xfrm>
          <a:prstGeom prst="rect">
            <a:avLst/>
          </a:prstGeom>
        </p:spPr>
        <p:txBody>
          <a:bodyPr/>
          <a:lstStyle/>
          <a:p>
            <a:r>
              <a:rPr lang="en-US" sz="3200" b="1">
                <a:solidFill>
                  <a:srgbClr val="1E2761"/>
                </a:solidFill>
                <a:latin typeface="Georgia"/>
                <a:ea typeface="Georgia"/>
              </a:rPr>
              <a:t>KiCad PCB Layout</a:t>
            </a:r>
          </a:p>
        </p:txBody>
      </p:sp>
      <p:sp>
        <p:nvSpPr>
          <p:cNvPr id="100076" name="TextBox 3"/>
          <p:cNvSpPr/>
          <p:nvPr/>
        </p:nvSpPr>
        <p:spPr>
          <a:xfrm>
            <a:off x="540000" y="900000"/>
            <a:ext cx="900000" cy="54000"/>
          </a:xfrm>
          <a:prstGeom prst="rect">
            <a:avLst/>
          </a:prstGeom>
          <a:solidFill>
            <a:srgbClr val="1E2761"/>
          </a:solidFill>
          <a:ln>
            <a:noFill/>
          </a:ln>
        </p:spPr>
        <p:txBody>
          <a:bodyPr/>
          <a:lstStyle/>
          <a:p>
            <a:endParaRPr/>
          </a:p>
        </p:txBody>
      </p:sp>
      <p:sp>
        <p:nvSpPr>
          <p:cNvPr id="100077" name="TextBox 4"/>
          <p:cNvSpPr txBox="1"/>
          <p:nvPr/>
        </p:nvSpPr>
        <p:spPr>
          <a:xfrm>
            <a:off x="540000" y="1152000"/>
            <a:ext cx="10800000" cy="720000"/>
          </a:xfrm>
          <a:prstGeom prst="rect">
            <a:avLst/>
          </a:prstGeom>
        </p:spPr>
        <p:txBody>
          <a:bodyPr/>
          <a:lstStyle/>
          <a:p>
            <a:r>
              <a:rPr lang="en-US" sz="1800">
                <a:solidFill>
                  <a:srgbClr val="333333"/>
                </a:solidFill>
                <a:latin typeface="Calibri"/>
                <a:ea typeface="Calibri"/>
              </a:rPr>
              <a:t>PCB layout converted from schematic with proper component placement, routing, and design-rule compliance.</a:t>
            </a:r>
          </a:p>
        </p:txBody>
      </p:sp>
      <p:sp>
        <p:nvSpPr>
          <p:cNvPr id="100078" name="TextBox 5"/>
          <p:cNvSpPr/>
          <p:nvPr/>
        </p:nvSpPr>
        <p:spPr>
          <a:xfrm>
            <a:off x="540000" y="1980000"/>
            <a:ext cx="5220000" cy="3780000"/>
          </a:xfrm>
          <a:prstGeom prst="roundRect">
            <a:avLst/>
          </a:prstGeom>
          <a:solidFill>
            <a:srgbClr val="1E2761"/>
          </a:solidFill>
          <a:ln>
            <a:noFill/>
          </a:ln>
        </p:spPr>
        <p:txBody>
          <a:bodyPr/>
          <a:lstStyle/>
          <a:p>
            <a:endParaRPr/>
          </a:p>
        </p:txBody>
      </p:sp>
      <p:sp>
        <p:nvSpPr>
          <p:cNvPr id="100079" name="TextBox 6"/>
          <p:cNvSpPr txBox="1"/>
          <p:nvPr/>
        </p:nvSpPr>
        <p:spPr>
          <a:xfrm>
            <a:off x="720000" y="2088000"/>
            <a:ext cx="4860000" cy="432000"/>
          </a:xfrm>
          <a:prstGeom prst="rect">
            <a:avLst/>
          </a:prstGeom>
        </p:spPr>
        <p:txBody>
          <a:bodyPr/>
          <a:lstStyle/>
          <a:p>
            <a:r>
              <a:rPr lang="en-US" sz="2000" b="1">
                <a:solidFill>
                  <a:srgbClr val="FFFFFF"/>
                </a:solidFill>
                <a:latin typeface="Georgia"/>
                <a:ea typeface="Georgia"/>
              </a:rPr>
              <a:t>PCB Specifications</a:t>
            </a:r>
          </a:p>
        </p:txBody>
      </p:sp>
      <p:sp>
        <p:nvSpPr>
          <p:cNvPr id="100080" name="TextBox 7"/>
          <p:cNvSpPr txBox="1"/>
          <p:nvPr/>
        </p:nvSpPr>
        <p:spPr>
          <a:xfrm>
            <a:off x="720000" y="2592000"/>
            <a:ext cx="4860000" cy="2880000"/>
          </a:xfrm>
          <a:prstGeom prst="rect">
            <a:avLst/>
          </a:prstGeom>
        </p:spPr>
        <p:txBody>
          <a:bodyPr/>
          <a:lstStyle/>
          <a:p>
            <a:r>
              <a:rPr lang="en-US" sz="1600">
                <a:solidFill>
                  <a:srgbClr val="CADCFC"/>
                </a:solidFill>
                <a:latin typeface="Calibri"/>
                <a:ea typeface="Calibri"/>
              </a:rPr>
              <a:t>✓ Crystal placed close to MCU pins</a:t>
            </a:r>
          </a:p>
          <a:p>
            <a:r>
              <a:rPr lang="en-US" sz="1600">
                <a:solidFill>
                  <a:srgbClr val="CADCFC"/>
                </a:solidFill>
                <a:latin typeface="Calibri"/>
                <a:ea typeface="Calibri"/>
              </a:rPr>
              <a:t>✓ Decoupling caps near power pins</a:t>
            </a:r>
          </a:p>
          <a:p>
            <a:r>
              <a:rPr lang="en-US" sz="1600">
                <a:solidFill>
                  <a:srgbClr val="CADCFC"/>
                </a:solidFill>
                <a:latin typeface="Calibri"/>
                <a:ea typeface="Calibri"/>
              </a:rPr>
              <a:t>✓ Buttons on edge for accessibility</a:t>
            </a:r>
          </a:p>
          <a:p>
            <a:r>
              <a:rPr lang="en-US" sz="1600">
                <a:solidFill>
                  <a:srgbClr val="CADCFC"/>
                </a:solidFill>
                <a:latin typeface="Calibri"/>
                <a:ea typeface="Calibri"/>
              </a:rPr>
              <a:t>✓ LEDs visible during testing</a:t>
            </a:r>
          </a:p>
          <a:p>
            <a:r>
              <a:rPr lang="en-US" sz="1600">
                <a:solidFill>
                  <a:srgbClr val="CADCFC"/>
                </a:solidFill>
                <a:latin typeface="Calibri"/>
                <a:ea typeface="Calibri"/>
              </a:rPr>
              <a:t>✓ Silkscreen labels on all components</a:t>
            </a:r>
          </a:p>
          <a:p>
            <a:r>
              <a:rPr lang="en-US" sz="1600">
                <a:solidFill>
                  <a:srgbClr val="CADCFC"/>
                </a:solidFill>
                <a:latin typeface="Calibri"/>
                <a:ea typeface="Calibri"/>
              </a:rPr>
              <a:t>✓ ERC and DRC passed with 0 errors</a:t>
            </a:r>
          </a:p>
          <a:p>
            <a:r>
              <a:rPr lang="en-US" sz="1600">
                <a:solidFill>
                  <a:srgbClr val="CADCFC"/>
                </a:solidFill>
                <a:latin typeface="Calibri"/>
                <a:ea typeface="Calibri"/>
              </a:rPr>
              <a:t>✓ Gerber files generated</a:t>
            </a:r>
          </a:p>
          <a:p>
            <a:r>
              <a:rPr lang="en-US" sz="1600">
                <a:solidFill>
                  <a:srgbClr val="CADCFC"/>
                </a:solidFill>
                <a:latin typeface="Calibri"/>
                <a:ea typeface="Calibri"/>
              </a:rPr>
              <a:t>✓ 2-layer board with ground plane</a:t>
            </a:r>
          </a:p>
        </p:txBody>
      </p:sp>
      <p:sp>
        <p:nvSpPr>
          <p:cNvPr id="100081" name="TextBox 8"/>
          <p:cNvSpPr/>
          <p:nvPr/>
        </p:nvSpPr>
        <p:spPr>
          <a:xfrm>
            <a:off x="6120000" y="1980000"/>
            <a:ext cx="5400000" cy="3780000"/>
          </a:xfrm>
          <a:prstGeom prst="roundRect">
            <a:avLst/>
          </a:prstGeom>
          <a:solidFill>
            <a:srgbClr val="F5F7FA"/>
          </a:solidFill>
          <a:ln>
            <a:noFill/>
          </a:ln>
        </p:spPr>
        <p:txBody>
          <a:bodyPr/>
          <a:lstStyle/>
          <a:p>
            <a:endParaRPr/>
          </a:p>
        </p:txBody>
      </p:sp>
      <p:sp>
        <p:nvSpPr>
          <p:cNvPr id="100082" name="TextBox 9"/>
          <p:cNvSpPr txBox="1"/>
          <p:nvPr/>
        </p:nvSpPr>
        <p:spPr>
          <a:xfrm>
            <a:off x="6300000" y="2088000"/>
            <a:ext cx="5040000" cy="432000"/>
          </a:xfrm>
          <a:prstGeom prst="rect">
            <a:avLst/>
          </a:prstGeom>
        </p:spPr>
        <p:txBody>
          <a:bodyPr/>
          <a:lstStyle/>
          <a:p>
            <a:r>
              <a:rPr lang="en-US" sz="2000" b="1">
                <a:solidFill>
                  <a:srgbClr val="1E2761"/>
                </a:solidFill>
                <a:latin typeface="Georgia"/>
                <a:ea typeface="Georgia"/>
              </a:rPr>
              <a:t>PCB Preview</a:t>
            </a:r>
          </a:p>
        </p:txBody>
      </p:sp>
      <p:sp>
        <p:nvSpPr>
          <p:cNvPr id="100083" name="TextBox 10"/>
          <p:cNvSpPr txBox="1"/>
          <p:nvPr/>
        </p:nvSpPr>
        <p:spPr>
          <a:xfrm>
            <a:off x="6300000" y="2592000"/>
            <a:ext cx="5040000" cy="2880000"/>
          </a:xfrm>
          <a:prstGeom prst="rect">
            <a:avLst/>
          </a:prstGeom>
        </p:spPr>
        <p:txBody>
          <a:bodyPr/>
          <a:lstStyle/>
          <a:p>
            <a:pPr algn="ctr"/>
            <a:r>
              <a:rPr lang="en-US" sz="1700">
                <a:solidFill>
                  <a:srgbClr val="8899BB"/>
                </a:solidFill>
                <a:latin typeface="Calibri"/>
                <a:ea typeface="Calibri"/>
              </a:rPr>
              <a:t>[Screenshot: KiCad PCB Layout]</a:t>
            </a:r>
          </a:p>
          <a:p>
            <a:pPr algn="ctr"/>
            <a:endParaRPr lang="en-US" sz="1700">
              <a:solidFill>
                <a:srgbClr val="8899BB"/>
              </a:solidFill>
              <a:latin typeface="Calibri"/>
              <a:ea typeface="Calibri"/>
            </a:endParaRPr>
          </a:p>
          <a:p>
            <a:pPr algn="ctr"/>
            <a:r>
              <a:rPr lang="en-US" sz="1700">
                <a:solidFill>
                  <a:srgbClr val="8899BB"/>
                </a:solidFill>
                <a:latin typeface="Calibri"/>
                <a:ea typeface="Calibri"/>
              </a:rPr>
              <a:t>See documentation/screenshots/</a:t>
            </a:r>
          </a:p>
          <a:p>
            <a:pPr algn="ctr"/>
            <a:r>
              <a:rPr lang="en-US" sz="1700">
                <a:solidFill>
                  <a:srgbClr val="8899BB"/>
                </a:solidFill>
                <a:latin typeface="Calibri"/>
                <a:ea typeface="Calibri"/>
              </a:rPr>
              <a:t>kicad_pcb.png</a:t>
            </a:r>
          </a:p>
          <a:p>
            <a:pPr algn="ctr"/>
            <a:endParaRPr lang="en-US" sz="1700">
              <a:solidFill>
                <a:srgbClr val="8899BB"/>
              </a:solidFill>
              <a:latin typeface="Calibri"/>
              <a:ea typeface="Calibri"/>
            </a:endParaRPr>
          </a:p>
          <a:p>
            <a:pPr algn="ctr"/>
            <a:r>
              <a:rPr lang="en-US" sz="1700">
                <a:solidFill>
                  <a:srgbClr val="8899BB"/>
                </a:solidFill>
                <a:latin typeface="Calibri"/>
                <a:ea typeface="Calibri"/>
              </a:rPr>
              <a:t>Full Gerber set and drill files</a:t>
            </a:r>
          </a:p>
          <a:p>
            <a:pPr algn="ctr"/>
            <a:r>
              <a:rPr lang="en-US" sz="1700">
                <a:solidFill>
                  <a:srgbClr val="8899BB"/>
                </a:solidFill>
                <a:latin typeface="Calibri"/>
                <a:ea typeface="Calibri"/>
              </a:rPr>
              <a:t>available for manufacturing</a:t>
            </a:r>
          </a:p>
        </p:txBody>
      </p:sp>
      <p:sp>
        <p:nvSpPr>
          <p:cNvPr id="100084" name="TextBox 11"/>
          <p:cNvSpPr txBox="1"/>
          <p:nvPr/>
        </p:nvSpPr>
        <p:spPr>
          <a:xfrm>
            <a:off x="10080000" y="6300000"/>
            <a:ext cx="1800000" cy="360000"/>
          </a:xfrm>
          <a:prstGeom prst="rect">
            <a:avLst/>
          </a:prstGeom>
        </p:spPr>
        <p:txBody>
          <a:bodyPr/>
          <a:lstStyle/>
          <a:p>
            <a:pPr algn="r"/>
            <a:r>
              <a:rPr lang="en-US" sz="1200">
                <a:solidFill>
                  <a:srgbClr val="8899BB"/>
                </a:solidFill>
                <a:latin typeface="Calibri"/>
                <a:ea typeface="Calibri"/>
              </a:rPr>
              <a:t>08 / 14</a:t>
            </a:r>
          </a:p>
        </p:txBody>
      </p:sp>
      <p:pic>
        <p:nvPicPr>
          <p:cNvPr id="2" name="Picture 1"/>
          <p:cNvPicPr>
            <a:picLocks noChangeAspect="1"/>
          </p:cNvPicPr>
          <p:nvPr/>
        </p:nvPicPr>
        <p:blipFill>
          <a:blip r:embed="rId3"/>
          <a:stretch>
            <a:fillRect/>
          </a:stretch>
        </p:blipFill>
        <p:spPr>
          <a:xfrm>
            <a:off x="6300000" y="2520000"/>
            <a:ext cx="5220000" cy="363141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85" name="TextBox 1"/>
          <p:cNvSpPr txBox="1"/>
          <p:nvPr/>
        </p:nvSpPr>
        <p:spPr>
          <a:xfrm>
            <a:off x="540000" y="288000"/>
            <a:ext cx="1080000" cy="540000"/>
          </a:xfrm>
          <a:prstGeom prst="rect">
            <a:avLst/>
          </a:prstGeom>
        </p:spPr>
        <p:txBody>
          <a:bodyPr/>
          <a:lstStyle/>
          <a:p>
            <a:r>
              <a:rPr lang="en-US" sz="3600" b="1">
                <a:solidFill>
                  <a:srgbClr val="1E2761"/>
                </a:solidFill>
                <a:latin typeface="Georgia"/>
                <a:ea typeface="Georgia"/>
              </a:rPr>
              <a:t>08</a:t>
            </a:r>
          </a:p>
        </p:txBody>
      </p:sp>
      <p:sp>
        <p:nvSpPr>
          <p:cNvPr id="100086" name="TextBox 2"/>
          <p:cNvSpPr txBox="1"/>
          <p:nvPr/>
        </p:nvSpPr>
        <p:spPr>
          <a:xfrm>
            <a:off x="1620000" y="288000"/>
            <a:ext cx="7200000" cy="540000"/>
          </a:xfrm>
          <a:prstGeom prst="rect">
            <a:avLst/>
          </a:prstGeom>
        </p:spPr>
        <p:txBody>
          <a:bodyPr/>
          <a:lstStyle/>
          <a:p>
            <a:r>
              <a:rPr lang="en-US" sz="3200" b="1">
                <a:solidFill>
                  <a:srgbClr val="1E2761"/>
                </a:solidFill>
                <a:latin typeface="Georgia"/>
                <a:ea typeface="Georgia"/>
              </a:rPr>
              <a:t>Firmware Architecture</a:t>
            </a:r>
          </a:p>
        </p:txBody>
      </p:sp>
      <p:sp>
        <p:nvSpPr>
          <p:cNvPr id="100087" name="TextBox 3"/>
          <p:cNvSpPr/>
          <p:nvPr/>
        </p:nvSpPr>
        <p:spPr>
          <a:xfrm>
            <a:off x="540000" y="900000"/>
            <a:ext cx="900000" cy="54000"/>
          </a:xfrm>
          <a:prstGeom prst="rect">
            <a:avLst/>
          </a:prstGeom>
          <a:solidFill>
            <a:srgbClr val="1E2761"/>
          </a:solidFill>
          <a:ln>
            <a:noFill/>
          </a:ln>
        </p:spPr>
        <p:txBody>
          <a:bodyPr/>
          <a:lstStyle/>
          <a:p>
            <a:endParaRPr/>
          </a:p>
        </p:txBody>
      </p:sp>
      <p:sp>
        <p:nvSpPr>
          <p:cNvPr id="100088" name="TextBox 4"/>
          <p:cNvSpPr/>
          <p:nvPr/>
        </p:nvSpPr>
        <p:spPr>
          <a:xfrm>
            <a:off x="540000" y="1260000"/>
            <a:ext cx="3600000" cy="1260000"/>
          </a:xfrm>
          <a:prstGeom prst="roundRect">
            <a:avLst/>
          </a:prstGeom>
          <a:solidFill>
            <a:srgbClr val="1E2761"/>
          </a:solidFill>
          <a:ln>
            <a:noFill/>
          </a:ln>
        </p:spPr>
        <p:txBody>
          <a:bodyPr/>
          <a:lstStyle/>
          <a:p>
            <a:endParaRPr/>
          </a:p>
        </p:txBody>
      </p:sp>
      <p:sp>
        <p:nvSpPr>
          <p:cNvPr id="100089" name="TextBox 5"/>
          <p:cNvSpPr txBox="1"/>
          <p:nvPr/>
        </p:nvSpPr>
        <p:spPr>
          <a:xfrm>
            <a:off x="540000" y="1368000"/>
            <a:ext cx="3600000" cy="432000"/>
          </a:xfrm>
          <a:prstGeom prst="rect">
            <a:avLst/>
          </a:prstGeom>
        </p:spPr>
        <p:txBody>
          <a:bodyPr/>
          <a:lstStyle/>
          <a:p>
            <a:pPr algn="ctr"/>
            <a:r>
              <a:rPr lang="en-US" sz="1800" b="1">
                <a:solidFill>
                  <a:srgbClr val="FFFFFF"/>
                </a:solidFill>
                <a:latin typeface="Georgia"/>
                <a:ea typeface="Georgia"/>
              </a:rPr>
              <a:t>Application</a:t>
            </a:r>
          </a:p>
        </p:txBody>
      </p:sp>
      <p:sp>
        <p:nvSpPr>
          <p:cNvPr id="100090" name="TextBox 6"/>
          <p:cNvSpPr txBox="1"/>
          <p:nvPr/>
        </p:nvSpPr>
        <p:spPr>
          <a:xfrm>
            <a:off x="540000" y="1800000"/>
            <a:ext cx="3600000" cy="648000"/>
          </a:xfrm>
          <a:prstGeom prst="rect">
            <a:avLst/>
          </a:prstGeom>
        </p:spPr>
        <p:txBody>
          <a:bodyPr/>
          <a:lstStyle/>
          <a:p>
            <a:pPr algn="ctr"/>
            <a:r>
              <a:rPr lang="en-US" sz="1400">
                <a:solidFill>
                  <a:srgbClr val="CADCFC"/>
                </a:solidFill>
                <a:latin typeface="Calibri"/>
                <a:ea typeface="Calibri"/>
              </a:rPr>
              <a:t>main.c — Super-loop</a:t>
            </a:r>
          </a:p>
          <a:p>
            <a:pPr algn="ctr"/>
            <a:r>
              <a:rPr lang="en-US" sz="1400">
                <a:solidFill>
                  <a:srgbClr val="CADCFC"/>
                </a:solidFill>
                <a:latin typeface="Calibri"/>
                <a:ea typeface="Calibri"/>
              </a:rPr>
              <a:t>Mode state machine</a:t>
            </a:r>
          </a:p>
        </p:txBody>
      </p:sp>
      <p:sp>
        <p:nvSpPr>
          <p:cNvPr id="100091" name="TextBox 7"/>
          <p:cNvSpPr/>
          <p:nvPr/>
        </p:nvSpPr>
        <p:spPr>
          <a:xfrm>
            <a:off x="4500000" y="1260000"/>
            <a:ext cx="3600000" cy="1260000"/>
          </a:xfrm>
          <a:prstGeom prst="roundRect">
            <a:avLst/>
          </a:prstGeom>
          <a:solidFill>
            <a:srgbClr val="CADCFC"/>
          </a:solidFill>
          <a:ln>
            <a:noFill/>
          </a:ln>
        </p:spPr>
        <p:txBody>
          <a:bodyPr/>
          <a:lstStyle/>
          <a:p>
            <a:endParaRPr/>
          </a:p>
        </p:txBody>
      </p:sp>
      <p:sp>
        <p:nvSpPr>
          <p:cNvPr id="100092" name="TextBox 8"/>
          <p:cNvSpPr txBox="1"/>
          <p:nvPr/>
        </p:nvSpPr>
        <p:spPr>
          <a:xfrm>
            <a:off x="4500000" y="1368000"/>
            <a:ext cx="3600000" cy="432000"/>
          </a:xfrm>
          <a:prstGeom prst="rect">
            <a:avLst/>
          </a:prstGeom>
        </p:spPr>
        <p:txBody>
          <a:bodyPr/>
          <a:lstStyle/>
          <a:p>
            <a:pPr algn="ctr"/>
            <a:r>
              <a:rPr lang="en-US" sz="1800" b="1">
                <a:solidFill>
                  <a:srgbClr val="1E2761"/>
                </a:solidFill>
                <a:latin typeface="Georgia"/>
                <a:ea typeface="Georgia"/>
              </a:rPr>
              <a:t>Modules</a:t>
            </a:r>
          </a:p>
        </p:txBody>
      </p:sp>
      <p:sp>
        <p:nvSpPr>
          <p:cNvPr id="100093" name="TextBox 9"/>
          <p:cNvSpPr txBox="1"/>
          <p:nvPr/>
        </p:nvSpPr>
        <p:spPr>
          <a:xfrm>
            <a:off x="4500000" y="1800000"/>
            <a:ext cx="3600000" cy="648000"/>
          </a:xfrm>
          <a:prstGeom prst="rect">
            <a:avLst/>
          </a:prstGeom>
        </p:spPr>
        <p:txBody>
          <a:bodyPr/>
          <a:lstStyle/>
          <a:p>
            <a:pPr algn="ctr"/>
            <a:r>
              <a:rPr lang="en-US" sz="1400">
                <a:solidFill>
                  <a:srgbClr val="333333"/>
                </a:solidFill>
                <a:latin typeface="Calibri"/>
                <a:ea typeface="Calibri"/>
              </a:rPr>
              <a:t>timer.c  |  scheduler.c</a:t>
            </a:r>
          </a:p>
          <a:p>
            <a:pPr algn="ctr"/>
            <a:r>
              <a:rPr lang="en-US" sz="1400">
                <a:solidFill>
                  <a:srgbClr val="333333"/>
                </a:solidFill>
                <a:latin typeface="Calibri"/>
                <a:ea typeface="Calibri"/>
              </a:rPr>
              <a:t>buttons.c  |  display.c</a:t>
            </a:r>
          </a:p>
        </p:txBody>
      </p:sp>
      <p:sp>
        <p:nvSpPr>
          <p:cNvPr id="100094" name="TextBox 10"/>
          <p:cNvSpPr/>
          <p:nvPr/>
        </p:nvSpPr>
        <p:spPr>
          <a:xfrm>
            <a:off x="8460000" y="1260000"/>
            <a:ext cx="3600000" cy="1260000"/>
          </a:xfrm>
          <a:prstGeom prst="roundRect">
            <a:avLst/>
          </a:prstGeom>
          <a:solidFill>
            <a:srgbClr val="F5F7FA"/>
          </a:solidFill>
          <a:ln w="25400">
            <a:solidFill>
              <a:srgbClr val="1E2761"/>
            </a:solidFill>
          </a:ln>
        </p:spPr>
        <p:txBody>
          <a:bodyPr/>
          <a:lstStyle/>
          <a:p>
            <a:endParaRPr/>
          </a:p>
        </p:txBody>
      </p:sp>
      <p:sp>
        <p:nvSpPr>
          <p:cNvPr id="100095" name="TextBox 11"/>
          <p:cNvSpPr txBox="1"/>
          <p:nvPr/>
        </p:nvSpPr>
        <p:spPr>
          <a:xfrm>
            <a:off x="8460000" y="1368000"/>
            <a:ext cx="3600000" cy="432000"/>
          </a:xfrm>
          <a:prstGeom prst="rect">
            <a:avLst/>
          </a:prstGeom>
        </p:spPr>
        <p:txBody>
          <a:bodyPr/>
          <a:lstStyle/>
          <a:p>
            <a:pPr algn="ctr"/>
            <a:r>
              <a:rPr lang="en-US" sz="1800" b="1">
                <a:solidFill>
                  <a:srgbClr val="1E2761"/>
                </a:solidFill>
                <a:latin typeface="Georgia"/>
                <a:ea typeface="Georgia"/>
              </a:rPr>
              <a:t>Configuration</a:t>
            </a:r>
          </a:p>
        </p:txBody>
      </p:sp>
      <p:sp>
        <p:nvSpPr>
          <p:cNvPr id="100096" name="TextBox 12"/>
          <p:cNvSpPr txBox="1"/>
          <p:nvPr/>
        </p:nvSpPr>
        <p:spPr>
          <a:xfrm>
            <a:off x="8460000" y="1800000"/>
            <a:ext cx="3600000" cy="648000"/>
          </a:xfrm>
          <a:prstGeom prst="rect">
            <a:avLst/>
          </a:prstGeom>
        </p:spPr>
        <p:txBody>
          <a:bodyPr/>
          <a:lstStyle/>
          <a:p>
            <a:pPr algn="ctr"/>
            <a:r>
              <a:rPr lang="en-US" sz="1400">
                <a:solidFill>
                  <a:srgbClr val="333333"/>
                </a:solidFill>
                <a:latin typeface="Calibri"/>
                <a:ea typeface="Calibri"/>
              </a:rPr>
              <a:t>config.h — Pin maps</a:t>
            </a:r>
          </a:p>
          <a:p>
            <a:pPr algn="ctr"/>
            <a:r>
              <a:rPr lang="en-US" sz="1400">
                <a:solidFill>
                  <a:srgbClr val="333333"/>
                </a:solidFill>
                <a:latin typeface="Calibri"/>
                <a:ea typeface="Calibri"/>
              </a:rPr>
              <a:t>Timer &amp; scheduler consts</a:t>
            </a:r>
          </a:p>
        </p:txBody>
      </p:sp>
      <p:sp>
        <p:nvSpPr>
          <p:cNvPr id="100097" name="TextBox 13"/>
          <p:cNvSpPr txBox="1"/>
          <p:nvPr/>
        </p:nvSpPr>
        <p:spPr>
          <a:xfrm>
            <a:off x="540000" y="2808000"/>
            <a:ext cx="10800000" cy="432000"/>
          </a:xfrm>
          <a:prstGeom prst="rect">
            <a:avLst/>
          </a:prstGeom>
        </p:spPr>
        <p:txBody>
          <a:bodyPr/>
          <a:lstStyle/>
          <a:p>
            <a:r>
              <a:rPr lang="en-US" sz="2000" b="1">
                <a:solidFill>
                  <a:srgbClr val="1E2761"/>
                </a:solidFill>
                <a:latin typeface="Georgia"/>
                <a:ea typeface="Georgia"/>
              </a:rPr>
              <a:t>Modular Code Structure</a:t>
            </a:r>
          </a:p>
        </p:txBody>
      </p:sp>
      <p:sp>
        <p:nvSpPr>
          <p:cNvPr id="100098" name="TextBox 14"/>
          <p:cNvSpPr/>
          <p:nvPr/>
        </p:nvSpPr>
        <p:spPr>
          <a:xfrm>
            <a:off x="540000" y="3312000"/>
            <a:ext cx="36000" cy="2880000"/>
          </a:xfrm>
          <a:prstGeom prst="rect">
            <a:avLst/>
          </a:prstGeom>
          <a:solidFill>
            <a:srgbClr val="1E2761"/>
          </a:solidFill>
          <a:ln>
            <a:noFill/>
          </a:ln>
        </p:spPr>
        <p:txBody>
          <a:bodyPr/>
          <a:lstStyle/>
          <a:p>
            <a:endParaRPr/>
          </a:p>
        </p:txBody>
      </p:sp>
      <p:sp>
        <p:nvSpPr>
          <p:cNvPr id="100099" name="TextBox 15"/>
          <p:cNvSpPr txBox="1"/>
          <p:nvPr/>
        </p:nvSpPr>
        <p:spPr>
          <a:xfrm>
            <a:off x="720000" y="3348000"/>
            <a:ext cx="10800000" cy="2880000"/>
          </a:xfrm>
          <a:prstGeom prst="rect">
            <a:avLst/>
          </a:prstGeom>
        </p:spPr>
        <p:txBody>
          <a:bodyPr/>
          <a:lstStyle/>
          <a:p>
            <a:r>
              <a:rPr lang="en-US" sz="1700">
                <a:solidFill>
                  <a:srgbClr val="333333"/>
                </a:solidFill>
                <a:latin typeface="Calibri"/>
                <a:ea typeface="Calibri"/>
              </a:rPr>
              <a:t>timer.c — Timer1 CTC init, ISR, clock_tick(), clock_get/set/reset()</a:t>
            </a:r>
          </a:p>
          <a:p>
            <a:r>
              <a:rPr lang="en-US" sz="1700">
                <a:solidFill>
                  <a:srgbClr val="333333"/>
                </a:solidFill>
                <a:latin typeface="Calibri"/>
                <a:ea typeface="Calibri"/>
              </a:rPr>
              <a:t>scheduler.c — scheduler_init(), scheduler_tick(), scheduler_run()</a:t>
            </a:r>
          </a:p>
          <a:p>
            <a:r>
              <a:rPr lang="en-US" sz="1700">
                <a:solidFill>
                  <a:srgbClr val="333333"/>
                </a:solidFill>
                <a:latin typeface="Calibri"/>
                <a:ea typeface="Calibri"/>
              </a:rPr>
              <a:t>buttons.c — buttons_init(), buttons_tick(), buttons_read()</a:t>
            </a:r>
          </a:p>
          <a:p>
            <a:r>
              <a:rPr lang="en-US" sz="1700">
                <a:solidFill>
                  <a:srgbClr val="333333"/>
                </a:solidFill>
                <a:latin typeface="Calibri"/>
                <a:ea typeface="Calibri"/>
              </a:rPr>
              <a:t>display.c — usart_init(), usart_putchar/puts(), display_time()</a:t>
            </a:r>
          </a:p>
          <a:p>
            <a:r>
              <a:rPr lang="en-US" sz="1700">
                <a:solidFill>
                  <a:srgbClr val="333333"/>
                </a:solidFill>
                <a:latin typeface="Calibri"/>
                <a:ea typeface="Calibri"/>
              </a:rPr>
              <a:t>config.h — Pin definitions, timer constants, scheduler intervals</a:t>
            </a:r>
          </a:p>
          <a:p>
            <a:r>
              <a:rPr lang="en-US" sz="1700">
                <a:solidFill>
                  <a:srgbClr val="333333"/>
                </a:solidFill>
                <a:latin typeface="Calibri"/>
                <a:ea typeface="Calibri"/>
              </a:rPr>
              <a:t>Makefile — AVR-GCC build + avrdude flash target</a:t>
            </a:r>
          </a:p>
        </p:txBody>
      </p:sp>
      <p:sp>
        <p:nvSpPr>
          <p:cNvPr id="100100" name="TextBox 16"/>
          <p:cNvSpPr txBox="1"/>
          <p:nvPr/>
        </p:nvSpPr>
        <p:spPr>
          <a:xfrm>
            <a:off x="10080000" y="6300000"/>
            <a:ext cx="1800000" cy="360000"/>
          </a:xfrm>
          <a:prstGeom prst="rect">
            <a:avLst/>
          </a:prstGeom>
        </p:spPr>
        <p:txBody>
          <a:bodyPr/>
          <a:lstStyle/>
          <a:p>
            <a:pPr algn="r"/>
            <a:r>
              <a:rPr lang="en-US" sz="1200">
                <a:solidFill>
                  <a:srgbClr val="8899BB"/>
                </a:solidFill>
                <a:latin typeface="Calibri"/>
                <a:ea typeface="Calibri"/>
              </a:rPr>
              <a:t>09 / 14</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01" name="TextBox 1"/>
          <p:cNvSpPr txBox="1"/>
          <p:nvPr/>
        </p:nvSpPr>
        <p:spPr>
          <a:xfrm>
            <a:off x="540000" y="288000"/>
            <a:ext cx="1080000" cy="540000"/>
          </a:xfrm>
          <a:prstGeom prst="rect">
            <a:avLst/>
          </a:prstGeom>
        </p:spPr>
        <p:txBody>
          <a:bodyPr/>
          <a:lstStyle/>
          <a:p>
            <a:r>
              <a:rPr lang="en-US" sz="3600" b="1">
                <a:solidFill>
                  <a:srgbClr val="1E2761"/>
                </a:solidFill>
                <a:latin typeface="Georgia"/>
                <a:ea typeface="Georgia"/>
              </a:rPr>
              <a:t>09</a:t>
            </a:r>
          </a:p>
        </p:txBody>
      </p:sp>
      <p:sp>
        <p:nvSpPr>
          <p:cNvPr id="100102" name="TextBox 2"/>
          <p:cNvSpPr txBox="1"/>
          <p:nvPr/>
        </p:nvSpPr>
        <p:spPr>
          <a:xfrm>
            <a:off x="1620000" y="288000"/>
            <a:ext cx="7200000" cy="540000"/>
          </a:xfrm>
          <a:prstGeom prst="rect">
            <a:avLst/>
          </a:prstGeom>
        </p:spPr>
        <p:txBody>
          <a:bodyPr/>
          <a:lstStyle/>
          <a:p>
            <a:r>
              <a:rPr lang="en-US" sz="3200" b="1">
                <a:solidFill>
                  <a:srgbClr val="1E2761"/>
                </a:solidFill>
                <a:latin typeface="Georgia"/>
                <a:ea typeface="Georgia"/>
              </a:rPr>
              <a:t>ISR &amp; Cooperative Scheduler</a:t>
            </a:r>
          </a:p>
        </p:txBody>
      </p:sp>
      <p:sp>
        <p:nvSpPr>
          <p:cNvPr id="100103" name="TextBox 3"/>
          <p:cNvSpPr/>
          <p:nvPr/>
        </p:nvSpPr>
        <p:spPr>
          <a:xfrm>
            <a:off x="540000" y="900000"/>
            <a:ext cx="900000" cy="54000"/>
          </a:xfrm>
          <a:prstGeom prst="rect">
            <a:avLst/>
          </a:prstGeom>
          <a:solidFill>
            <a:srgbClr val="1E2761"/>
          </a:solidFill>
          <a:ln>
            <a:noFill/>
          </a:ln>
        </p:spPr>
        <p:txBody>
          <a:bodyPr/>
          <a:lstStyle/>
          <a:p>
            <a:endParaRPr/>
          </a:p>
        </p:txBody>
      </p:sp>
      <p:sp>
        <p:nvSpPr>
          <p:cNvPr id="100104" name="TextBox 4"/>
          <p:cNvSpPr/>
          <p:nvPr/>
        </p:nvSpPr>
        <p:spPr>
          <a:xfrm>
            <a:off x="540000" y="1260000"/>
            <a:ext cx="5220000" cy="2340000"/>
          </a:xfrm>
          <a:prstGeom prst="roundRect">
            <a:avLst/>
          </a:prstGeom>
          <a:solidFill>
            <a:srgbClr val="1E2761"/>
          </a:solidFill>
          <a:ln>
            <a:noFill/>
          </a:ln>
        </p:spPr>
        <p:txBody>
          <a:bodyPr/>
          <a:lstStyle/>
          <a:p>
            <a:endParaRPr/>
          </a:p>
        </p:txBody>
      </p:sp>
      <p:sp>
        <p:nvSpPr>
          <p:cNvPr id="100105" name="TextBox 5"/>
          <p:cNvSpPr txBox="1"/>
          <p:nvPr/>
        </p:nvSpPr>
        <p:spPr>
          <a:xfrm>
            <a:off x="720000" y="1368000"/>
            <a:ext cx="4860000" cy="432000"/>
          </a:xfrm>
          <a:prstGeom prst="rect">
            <a:avLst/>
          </a:prstGeom>
        </p:spPr>
        <p:txBody>
          <a:bodyPr/>
          <a:lstStyle/>
          <a:p>
            <a:r>
              <a:rPr lang="en-US" sz="2000" b="1">
                <a:solidFill>
                  <a:srgbClr val="FFFFFF"/>
                </a:solidFill>
                <a:latin typeface="Georgia"/>
                <a:ea typeface="Georgia"/>
              </a:rPr>
              <a:t>ISR: TIMER1_COMPA_vect</a:t>
            </a:r>
          </a:p>
        </p:txBody>
      </p:sp>
      <p:sp>
        <p:nvSpPr>
          <p:cNvPr id="100106" name="TextBox 6"/>
          <p:cNvSpPr txBox="1"/>
          <p:nvPr/>
        </p:nvSpPr>
        <p:spPr>
          <a:xfrm>
            <a:off x="720000" y="1872000"/>
            <a:ext cx="4860000" cy="1980000"/>
          </a:xfrm>
          <a:prstGeom prst="rect">
            <a:avLst/>
          </a:prstGeom>
        </p:spPr>
        <p:txBody>
          <a:bodyPr/>
          <a:lstStyle/>
          <a:p>
            <a:r>
              <a:rPr lang="en-US" sz="1600">
                <a:solidFill>
                  <a:srgbClr val="CADCFC"/>
                </a:solidFill>
                <a:latin typeface="Calibri"/>
                <a:ea typeface="Calibri"/>
              </a:rPr>
              <a:t>Fires at ~1 Hz (CTC match)</a:t>
            </a:r>
          </a:p>
          <a:p>
            <a:endParaRPr lang="en-US" sz="1600">
              <a:solidFill>
                <a:srgbClr val="CADCFC"/>
              </a:solidFill>
              <a:latin typeface="Calibri"/>
              <a:ea typeface="Calibri"/>
            </a:endParaRPr>
          </a:p>
          <a:p>
            <a:r>
              <a:rPr lang="en-US" sz="1600">
                <a:solidFill>
                  <a:srgbClr val="CADCFC"/>
                </a:solidFill>
                <a:latin typeface="Calibri"/>
                <a:ea typeface="Calibri"/>
              </a:rPr>
              <a:t>Minimal ISR design:</a:t>
            </a:r>
          </a:p>
          <a:p>
            <a:r>
              <a:rPr lang="en-US" sz="1600">
                <a:solidFill>
                  <a:srgbClr val="CADCFC"/>
                </a:solidFill>
                <a:latin typeface="Calibri"/>
                <a:ea typeface="Calibri"/>
              </a:rPr>
              <a:t>  → Sets g_tick_flag = true</a:t>
            </a:r>
          </a:p>
          <a:p>
            <a:r>
              <a:rPr lang="en-US" sz="1600">
                <a:solidFill>
                  <a:srgbClr val="CADCFC"/>
                </a:solidFill>
                <a:latin typeface="Calibri"/>
                <a:ea typeface="Calibri"/>
              </a:rPr>
              <a:t>  → No heavy processing</a:t>
            </a:r>
          </a:p>
          <a:p>
            <a:r>
              <a:rPr lang="en-US" sz="1600">
                <a:solidFill>
                  <a:srgbClr val="CADCFC"/>
                </a:solidFill>
                <a:latin typeface="Calibri"/>
                <a:ea typeface="Calibri"/>
              </a:rPr>
              <a:t>  → All work in main loop</a:t>
            </a:r>
          </a:p>
          <a:p>
            <a:endParaRPr lang="en-US" sz="1600">
              <a:solidFill>
                <a:srgbClr val="CADCFC"/>
              </a:solidFill>
              <a:latin typeface="Calibri"/>
              <a:ea typeface="Calibri"/>
            </a:endParaRPr>
          </a:p>
          <a:p>
            <a:r>
              <a:rPr lang="en-US" sz="1600">
                <a:solidFill>
                  <a:srgbClr val="CADCFC"/>
                </a:solidFill>
                <a:latin typeface="Calibri"/>
                <a:ea typeface="Calibri"/>
              </a:rPr>
              <a:t>Atomic read-clear via ATOMIC_BLOCK</a:t>
            </a:r>
          </a:p>
          <a:p>
            <a:r>
              <a:rPr lang="en-US" sz="1600">
                <a:solidFill>
                  <a:srgbClr val="CADCFC"/>
                </a:solidFill>
                <a:latin typeface="Calibri"/>
                <a:ea typeface="Calibri"/>
              </a:rPr>
              <a:t>keeps ISR and main loop in sync</a:t>
            </a:r>
          </a:p>
        </p:txBody>
      </p:sp>
      <p:sp>
        <p:nvSpPr>
          <p:cNvPr id="100107" name="TextBox 7"/>
          <p:cNvSpPr/>
          <p:nvPr/>
        </p:nvSpPr>
        <p:spPr>
          <a:xfrm>
            <a:off x="6120000" y="1260000"/>
            <a:ext cx="5400000" cy="2340000"/>
          </a:xfrm>
          <a:prstGeom prst="roundRect">
            <a:avLst/>
          </a:prstGeom>
          <a:solidFill>
            <a:srgbClr val="CADCFC"/>
          </a:solidFill>
          <a:ln>
            <a:noFill/>
          </a:ln>
        </p:spPr>
        <p:txBody>
          <a:bodyPr/>
          <a:lstStyle/>
          <a:p>
            <a:endParaRPr/>
          </a:p>
        </p:txBody>
      </p:sp>
      <p:sp>
        <p:nvSpPr>
          <p:cNvPr id="100108" name="TextBox 8"/>
          <p:cNvSpPr txBox="1"/>
          <p:nvPr/>
        </p:nvSpPr>
        <p:spPr>
          <a:xfrm>
            <a:off x="6300000" y="1368000"/>
            <a:ext cx="5040000" cy="432000"/>
          </a:xfrm>
          <a:prstGeom prst="rect">
            <a:avLst/>
          </a:prstGeom>
        </p:spPr>
        <p:txBody>
          <a:bodyPr/>
          <a:lstStyle/>
          <a:p>
            <a:r>
              <a:rPr lang="en-US" sz="2000" b="1" dirty="0">
                <a:solidFill>
                  <a:srgbClr val="1E2761"/>
                </a:solidFill>
                <a:latin typeface="Georgia"/>
                <a:ea typeface="Georgia"/>
              </a:rPr>
              <a:t>Main Loop: Flag Polling</a:t>
            </a:r>
          </a:p>
        </p:txBody>
      </p:sp>
      <p:sp>
        <p:nvSpPr>
          <p:cNvPr id="100109" name="TextBox 9"/>
          <p:cNvSpPr txBox="1"/>
          <p:nvPr/>
        </p:nvSpPr>
        <p:spPr>
          <a:xfrm>
            <a:off x="6300000" y="1872000"/>
            <a:ext cx="5040000" cy="1728000"/>
          </a:xfrm>
          <a:prstGeom prst="rect">
            <a:avLst/>
          </a:prstGeom>
        </p:spPr>
        <p:txBody>
          <a:bodyPr/>
          <a:lstStyle/>
          <a:p>
            <a:r>
              <a:rPr lang="en-US" sz="1300">
                <a:solidFill>
                  <a:srgbClr val="333333"/>
                </a:solidFill>
                <a:latin typeface="Consolas"/>
                <a:ea typeface="Consolas"/>
              </a:rPr>
              <a:t>for (;;) {</a:t>
            </a:r>
          </a:p>
          <a:p>
            <a:r>
              <a:rPr lang="en-US" sz="1300">
                <a:solidFill>
                  <a:srgbClr val="333333"/>
                </a:solidFill>
                <a:latin typeface="Consolas"/>
                <a:ea typeface="Consolas"/>
              </a:rPr>
              <a:t>  if (timer1_tick_pending()) {</a:t>
            </a:r>
          </a:p>
          <a:p>
            <a:r>
              <a:rPr lang="en-US" sz="1300">
                <a:solidFill>
                  <a:srgbClr val="333333"/>
                </a:solidFill>
                <a:latin typeface="Consolas"/>
                <a:ea typeface="Consolas"/>
              </a:rPr>
              <a:t>    scheduler_tick();</a:t>
            </a:r>
          </a:p>
          <a:p>
            <a:r>
              <a:rPr lang="en-US" sz="1300">
                <a:solidFill>
                  <a:srgbClr val="333333"/>
                </a:solidFill>
                <a:latin typeface="Consolas"/>
                <a:ea typeface="Consolas"/>
              </a:rPr>
              <a:t>    buttons_tick();</a:t>
            </a:r>
          </a:p>
          <a:p>
            <a:r>
              <a:rPr lang="en-US" sz="1300">
                <a:solidFill>
                  <a:srgbClr val="333333"/>
                </a:solidFill>
                <a:latin typeface="Consolas"/>
                <a:ea typeface="Consolas"/>
              </a:rPr>
              <a:t>    clock_tick();</a:t>
            </a:r>
          </a:p>
          <a:p>
            <a:r>
              <a:rPr lang="en-US" sz="1300">
                <a:solidFill>
                  <a:srgbClr val="333333"/>
                </a:solidFill>
                <a:latin typeface="Consolas"/>
                <a:ea typeface="Consolas"/>
              </a:rPr>
              <a:t>    display_time();</a:t>
            </a:r>
          </a:p>
          <a:p>
            <a:r>
              <a:rPr lang="en-US" sz="1300">
                <a:solidFill>
                  <a:srgbClr val="333333"/>
                </a:solidFill>
                <a:latin typeface="Consolas"/>
                <a:ea typeface="Consolas"/>
              </a:rPr>
              <a:t>  }</a:t>
            </a:r>
          </a:p>
          <a:p>
            <a:r>
              <a:rPr lang="en-US" sz="1300">
                <a:solidFill>
                  <a:srgbClr val="333333"/>
                </a:solidFill>
                <a:latin typeface="Consolas"/>
                <a:ea typeface="Consolas"/>
              </a:rPr>
              <a:t>  scheduler_run();</a:t>
            </a:r>
          </a:p>
          <a:p>
            <a:r>
              <a:rPr lang="en-US" sz="1300">
                <a:solidFill>
                  <a:srgbClr val="333333"/>
                </a:solidFill>
                <a:latin typeface="Consolas"/>
                <a:ea typeface="Consolas"/>
              </a:rPr>
              <a:t>  handle buttons;</a:t>
            </a:r>
          </a:p>
          <a:p>
            <a:r>
              <a:rPr lang="en-US" sz="1300">
                <a:solidFill>
                  <a:srgbClr val="333333"/>
                </a:solidFill>
                <a:latin typeface="Consolas"/>
                <a:ea typeface="Consolas"/>
              </a:rPr>
              <a:t>}</a:t>
            </a:r>
          </a:p>
        </p:txBody>
      </p:sp>
      <p:sp>
        <p:nvSpPr>
          <p:cNvPr id="100110" name="TextBox 10"/>
          <p:cNvSpPr txBox="1"/>
          <p:nvPr/>
        </p:nvSpPr>
        <p:spPr>
          <a:xfrm>
            <a:off x="540000" y="3780000"/>
            <a:ext cx="10800000" cy="432000"/>
          </a:xfrm>
          <a:prstGeom prst="rect">
            <a:avLst/>
          </a:prstGeom>
        </p:spPr>
        <p:txBody>
          <a:bodyPr/>
          <a:lstStyle/>
          <a:p>
            <a:r>
              <a:rPr lang="en-US" sz="2000" b="1">
                <a:solidFill>
                  <a:srgbClr val="1E2761"/>
                </a:solidFill>
                <a:latin typeface="Georgia"/>
                <a:ea typeface="Georgia"/>
              </a:rPr>
              <a:t>Scheduled Tasks</a:t>
            </a:r>
          </a:p>
        </p:txBody>
      </p:sp>
      <p:sp>
        <p:nvSpPr>
          <p:cNvPr id="100111" name="TextBox 11"/>
          <p:cNvSpPr/>
          <p:nvPr/>
        </p:nvSpPr>
        <p:spPr>
          <a:xfrm>
            <a:off x="540000" y="4320000"/>
            <a:ext cx="2520000" cy="1620000"/>
          </a:xfrm>
          <a:prstGeom prst="roundRect">
            <a:avLst/>
          </a:prstGeom>
          <a:solidFill>
            <a:srgbClr val="1E2761"/>
          </a:solidFill>
          <a:ln>
            <a:noFill/>
          </a:ln>
        </p:spPr>
        <p:txBody>
          <a:bodyPr/>
          <a:lstStyle/>
          <a:p>
            <a:endParaRPr/>
          </a:p>
        </p:txBody>
      </p:sp>
      <p:sp>
        <p:nvSpPr>
          <p:cNvPr id="100112" name="TextBox 12"/>
          <p:cNvSpPr txBox="1"/>
          <p:nvPr/>
        </p:nvSpPr>
        <p:spPr>
          <a:xfrm>
            <a:off x="540000" y="4392000"/>
            <a:ext cx="2520000" cy="360000"/>
          </a:xfrm>
          <a:prstGeom prst="rect">
            <a:avLst/>
          </a:prstGeom>
        </p:spPr>
        <p:txBody>
          <a:bodyPr/>
          <a:lstStyle/>
          <a:p>
            <a:pPr algn="ctr"/>
            <a:r>
              <a:rPr lang="en-US" sz="1800" b="1">
                <a:solidFill>
                  <a:srgbClr val="FFFFFF"/>
                </a:solidFill>
                <a:latin typeface="Georgia"/>
                <a:ea typeface="Georgia"/>
              </a:rPr>
              <a:t>Clock Tick</a:t>
            </a:r>
          </a:p>
        </p:txBody>
      </p:sp>
      <p:sp>
        <p:nvSpPr>
          <p:cNvPr id="100113" name="TextBox 13"/>
          <p:cNvSpPr txBox="1"/>
          <p:nvPr/>
        </p:nvSpPr>
        <p:spPr>
          <a:xfrm>
            <a:off x="540000" y="4788000"/>
            <a:ext cx="2520000" cy="1080000"/>
          </a:xfrm>
          <a:prstGeom prst="rect">
            <a:avLst/>
          </a:prstGeom>
        </p:spPr>
        <p:txBody>
          <a:bodyPr/>
          <a:lstStyle/>
          <a:p>
            <a:pPr algn="ctr"/>
            <a:r>
              <a:rPr lang="en-US" sz="1500">
                <a:solidFill>
                  <a:srgbClr val="CADCFC"/>
                </a:solidFill>
                <a:latin typeface="Calibri"/>
                <a:ea typeface="Calibri"/>
              </a:rPr>
              <a:t>1 second</a:t>
            </a:r>
          </a:p>
          <a:p>
            <a:pPr algn="ctr"/>
            <a:r>
              <a:rPr lang="en-US" sz="1500">
                <a:solidFill>
                  <a:srgbClr val="CADCFC"/>
                </a:solidFill>
                <a:latin typeface="Calibri"/>
                <a:ea typeface="Calibri"/>
              </a:rPr>
              <a:t>Increment time</a:t>
            </a:r>
          </a:p>
          <a:p>
            <a:pPr algn="ctr"/>
            <a:r>
              <a:rPr lang="en-US" sz="1500">
                <a:solidFill>
                  <a:srgbClr val="CADCFC"/>
                </a:solidFill>
                <a:latin typeface="Calibri"/>
                <a:ea typeface="Calibri"/>
              </a:rPr>
              <a:t>Send HH:MM:SS</a:t>
            </a:r>
          </a:p>
        </p:txBody>
      </p:sp>
      <p:sp>
        <p:nvSpPr>
          <p:cNvPr id="100114" name="TextBox 14"/>
          <p:cNvSpPr/>
          <p:nvPr/>
        </p:nvSpPr>
        <p:spPr>
          <a:xfrm>
            <a:off x="3420000" y="4320000"/>
            <a:ext cx="2520000" cy="1620000"/>
          </a:xfrm>
          <a:prstGeom prst="roundRect">
            <a:avLst/>
          </a:prstGeom>
          <a:solidFill>
            <a:srgbClr val="CADCFC"/>
          </a:solidFill>
          <a:ln>
            <a:noFill/>
          </a:ln>
        </p:spPr>
        <p:txBody>
          <a:bodyPr/>
          <a:lstStyle/>
          <a:p>
            <a:endParaRPr/>
          </a:p>
        </p:txBody>
      </p:sp>
      <p:sp>
        <p:nvSpPr>
          <p:cNvPr id="100115" name="TextBox 15"/>
          <p:cNvSpPr txBox="1"/>
          <p:nvPr/>
        </p:nvSpPr>
        <p:spPr>
          <a:xfrm>
            <a:off x="3420000" y="4392000"/>
            <a:ext cx="2520000" cy="360000"/>
          </a:xfrm>
          <a:prstGeom prst="rect">
            <a:avLst/>
          </a:prstGeom>
        </p:spPr>
        <p:txBody>
          <a:bodyPr/>
          <a:lstStyle/>
          <a:p>
            <a:pPr algn="ctr"/>
            <a:r>
              <a:rPr lang="en-US" sz="1800" b="1">
                <a:solidFill>
                  <a:srgbClr val="1E2761"/>
                </a:solidFill>
                <a:latin typeface="Georgia"/>
                <a:ea typeface="Georgia"/>
              </a:rPr>
              <a:t>Status LED</a:t>
            </a:r>
          </a:p>
        </p:txBody>
      </p:sp>
      <p:sp>
        <p:nvSpPr>
          <p:cNvPr id="100116" name="TextBox 16"/>
          <p:cNvSpPr txBox="1"/>
          <p:nvPr/>
        </p:nvSpPr>
        <p:spPr>
          <a:xfrm>
            <a:off x="3420000" y="4788000"/>
            <a:ext cx="2520000" cy="1080000"/>
          </a:xfrm>
          <a:prstGeom prst="rect">
            <a:avLst/>
          </a:prstGeom>
        </p:spPr>
        <p:txBody>
          <a:bodyPr/>
          <a:lstStyle/>
          <a:p>
            <a:pPr algn="ctr"/>
            <a:r>
              <a:rPr lang="en-US" sz="1500">
                <a:solidFill>
                  <a:srgbClr val="333333"/>
                </a:solidFill>
                <a:latin typeface="Calibri"/>
                <a:ea typeface="Calibri"/>
              </a:rPr>
              <a:t>2 seconds</a:t>
            </a:r>
          </a:p>
          <a:p>
            <a:pPr algn="ctr"/>
            <a:r>
              <a:rPr lang="en-US" sz="1500">
                <a:solidFill>
                  <a:srgbClr val="333333"/>
                </a:solidFill>
                <a:latin typeface="Calibri"/>
                <a:ea typeface="Calibri"/>
              </a:rPr>
              <a:t>Toggle PB0</a:t>
            </a:r>
          </a:p>
          <a:p>
            <a:pPr algn="ctr"/>
            <a:r>
              <a:rPr lang="en-US" sz="1500">
                <a:solidFill>
                  <a:srgbClr val="333333"/>
                </a:solidFill>
                <a:latin typeface="Calibri"/>
                <a:ea typeface="Calibri"/>
              </a:rPr>
              <a:t>Heartbeat indicator</a:t>
            </a:r>
          </a:p>
        </p:txBody>
      </p:sp>
      <p:sp>
        <p:nvSpPr>
          <p:cNvPr id="100117" name="TextBox 17"/>
          <p:cNvSpPr/>
          <p:nvPr/>
        </p:nvSpPr>
        <p:spPr>
          <a:xfrm>
            <a:off x="6300000" y="4320000"/>
            <a:ext cx="2520000" cy="1620000"/>
          </a:xfrm>
          <a:prstGeom prst="roundRect">
            <a:avLst/>
          </a:prstGeom>
          <a:solidFill>
            <a:srgbClr val="1E2761"/>
          </a:solidFill>
          <a:ln>
            <a:noFill/>
          </a:ln>
        </p:spPr>
        <p:txBody>
          <a:bodyPr/>
          <a:lstStyle/>
          <a:p>
            <a:endParaRPr/>
          </a:p>
        </p:txBody>
      </p:sp>
      <p:sp>
        <p:nvSpPr>
          <p:cNvPr id="100118" name="TextBox 18"/>
          <p:cNvSpPr txBox="1"/>
          <p:nvPr/>
        </p:nvSpPr>
        <p:spPr>
          <a:xfrm>
            <a:off x="6300000" y="4392000"/>
            <a:ext cx="2520000" cy="360000"/>
          </a:xfrm>
          <a:prstGeom prst="rect">
            <a:avLst/>
          </a:prstGeom>
        </p:spPr>
        <p:txBody>
          <a:bodyPr/>
          <a:lstStyle/>
          <a:p>
            <a:pPr algn="ctr"/>
            <a:r>
              <a:rPr lang="en-US" sz="1800" b="1">
                <a:solidFill>
                  <a:srgbClr val="FFFFFF"/>
                </a:solidFill>
                <a:latin typeface="Georgia"/>
                <a:ea typeface="Georgia"/>
              </a:rPr>
              <a:t>Task LED</a:t>
            </a:r>
          </a:p>
        </p:txBody>
      </p:sp>
      <p:sp>
        <p:nvSpPr>
          <p:cNvPr id="100119" name="TextBox 19"/>
          <p:cNvSpPr txBox="1"/>
          <p:nvPr/>
        </p:nvSpPr>
        <p:spPr>
          <a:xfrm>
            <a:off x="6300000" y="4788000"/>
            <a:ext cx="2520000" cy="1080000"/>
          </a:xfrm>
          <a:prstGeom prst="rect">
            <a:avLst/>
          </a:prstGeom>
        </p:spPr>
        <p:txBody>
          <a:bodyPr/>
          <a:lstStyle/>
          <a:p>
            <a:pPr algn="ctr"/>
            <a:r>
              <a:rPr lang="en-US" sz="1500">
                <a:solidFill>
                  <a:srgbClr val="CADCFC"/>
                </a:solidFill>
                <a:latin typeface="Calibri"/>
                <a:ea typeface="Calibri"/>
              </a:rPr>
              <a:t>5 seconds</a:t>
            </a:r>
          </a:p>
          <a:p>
            <a:pPr algn="ctr"/>
            <a:r>
              <a:rPr lang="en-US" sz="1500">
                <a:solidFill>
                  <a:srgbClr val="CADCFC"/>
                </a:solidFill>
                <a:latin typeface="Calibri"/>
                <a:ea typeface="Calibri"/>
              </a:rPr>
              <a:t>Flash PB1 for 1s</a:t>
            </a:r>
          </a:p>
          <a:p>
            <a:pPr algn="ctr"/>
            <a:r>
              <a:rPr lang="en-US" sz="1500">
                <a:solidFill>
                  <a:srgbClr val="CADCFC"/>
                </a:solidFill>
                <a:latin typeface="Calibri"/>
                <a:ea typeface="Calibri"/>
              </a:rPr>
              <a:t>TASK: SENSOR SAMPLE</a:t>
            </a:r>
          </a:p>
        </p:txBody>
      </p:sp>
      <p:sp>
        <p:nvSpPr>
          <p:cNvPr id="100120" name="TextBox 20"/>
          <p:cNvSpPr/>
          <p:nvPr/>
        </p:nvSpPr>
        <p:spPr>
          <a:xfrm>
            <a:off x="9180000" y="4320000"/>
            <a:ext cx="2520000" cy="1620000"/>
          </a:xfrm>
          <a:prstGeom prst="roundRect">
            <a:avLst/>
          </a:prstGeom>
          <a:solidFill>
            <a:srgbClr val="F5F7FA"/>
          </a:solidFill>
          <a:ln w="25400">
            <a:solidFill>
              <a:srgbClr val="1E2761"/>
            </a:solidFill>
          </a:ln>
        </p:spPr>
        <p:txBody>
          <a:bodyPr/>
          <a:lstStyle/>
          <a:p>
            <a:endParaRPr/>
          </a:p>
        </p:txBody>
      </p:sp>
      <p:sp>
        <p:nvSpPr>
          <p:cNvPr id="100121" name="TextBox 21"/>
          <p:cNvSpPr txBox="1"/>
          <p:nvPr/>
        </p:nvSpPr>
        <p:spPr>
          <a:xfrm>
            <a:off x="9180000" y="4392000"/>
            <a:ext cx="2520000" cy="360000"/>
          </a:xfrm>
          <a:prstGeom prst="rect">
            <a:avLst/>
          </a:prstGeom>
        </p:spPr>
        <p:txBody>
          <a:bodyPr/>
          <a:lstStyle/>
          <a:p>
            <a:pPr algn="ctr"/>
            <a:r>
              <a:rPr lang="en-US" sz="1800" b="1">
                <a:solidFill>
                  <a:srgbClr val="1E2761"/>
                </a:solidFill>
                <a:latin typeface="Georgia"/>
                <a:ea typeface="Georgia"/>
              </a:rPr>
              <a:t>Extension</a:t>
            </a:r>
          </a:p>
        </p:txBody>
      </p:sp>
      <p:sp>
        <p:nvSpPr>
          <p:cNvPr id="100122" name="TextBox 22"/>
          <p:cNvSpPr txBox="1"/>
          <p:nvPr/>
        </p:nvSpPr>
        <p:spPr>
          <a:xfrm>
            <a:off x="9180000" y="4788000"/>
            <a:ext cx="2520000" cy="1080000"/>
          </a:xfrm>
          <a:prstGeom prst="rect">
            <a:avLst/>
          </a:prstGeom>
        </p:spPr>
        <p:txBody>
          <a:bodyPr/>
          <a:lstStyle/>
          <a:p>
            <a:pPr algn="ctr"/>
            <a:r>
              <a:rPr lang="en-US" sz="1500">
                <a:solidFill>
                  <a:srgbClr val="333333"/>
                </a:solidFill>
                <a:latin typeface="Calibri"/>
                <a:ea typeface="Calibri"/>
              </a:rPr>
              <a:t>10 seconds</a:t>
            </a:r>
          </a:p>
          <a:p>
            <a:pPr algn="ctr"/>
            <a:r>
              <a:rPr lang="en-US" sz="1500">
                <a:solidFill>
                  <a:srgbClr val="333333"/>
                </a:solidFill>
                <a:latin typeface="Calibri"/>
                <a:ea typeface="Calibri"/>
              </a:rPr>
              <a:t>Ext task message</a:t>
            </a:r>
          </a:p>
          <a:p>
            <a:pPr algn="ctr"/>
            <a:r>
              <a:rPr lang="en-US" sz="1500">
                <a:solidFill>
                  <a:srgbClr val="333333"/>
                </a:solidFill>
                <a:latin typeface="Calibri"/>
                <a:ea typeface="Calibri"/>
              </a:rPr>
              <a:t>Via USART</a:t>
            </a:r>
          </a:p>
        </p:txBody>
      </p:sp>
      <p:sp>
        <p:nvSpPr>
          <p:cNvPr id="100123" name="TextBox 23"/>
          <p:cNvSpPr txBox="1"/>
          <p:nvPr/>
        </p:nvSpPr>
        <p:spPr>
          <a:xfrm>
            <a:off x="10080000" y="6300000"/>
            <a:ext cx="1800000" cy="360000"/>
          </a:xfrm>
          <a:prstGeom prst="rect">
            <a:avLst/>
          </a:prstGeom>
        </p:spPr>
        <p:txBody>
          <a:bodyPr/>
          <a:lstStyle/>
          <a:p>
            <a:pPr algn="r"/>
            <a:r>
              <a:rPr lang="en-US" sz="1200">
                <a:solidFill>
                  <a:srgbClr val="8899BB"/>
                </a:solidFill>
                <a:latin typeface="Calibri"/>
                <a:ea typeface="Calibri"/>
              </a:rPr>
              <a:t>10 / 14</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24" name="TextBox 1"/>
          <p:cNvSpPr txBox="1"/>
          <p:nvPr/>
        </p:nvSpPr>
        <p:spPr>
          <a:xfrm>
            <a:off x="540000" y="288000"/>
            <a:ext cx="1080000" cy="540000"/>
          </a:xfrm>
          <a:prstGeom prst="rect">
            <a:avLst/>
          </a:prstGeom>
        </p:spPr>
        <p:txBody>
          <a:bodyPr/>
          <a:lstStyle/>
          <a:p>
            <a:r>
              <a:rPr lang="en-US" sz="3600" b="1">
                <a:solidFill>
                  <a:srgbClr val="1E2761"/>
                </a:solidFill>
                <a:latin typeface="Georgia"/>
                <a:ea typeface="Georgia"/>
              </a:rPr>
              <a:t>10</a:t>
            </a:r>
          </a:p>
        </p:txBody>
      </p:sp>
      <p:sp>
        <p:nvSpPr>
          <p:cNvPr id="100125" name="TextBox 2"/>
          <p:cNvSpPr txBox="1"/>
          <p:nvPr/>
        </p:nvSpPr>
        <p:spPr>
          <a:xfrm>
            <a:off x="1620000" y="288000"/>
            <a:ext cx="7200000" cy="540000"/>
          </a:xfrm>
          <a:prstGeom prst="rect">
            <a:avLst/>
          </a:prstGeom>
        </p:spPr>
        <p:txBody>
          <a:bodyPr/>
          <a:lstStyle/>
          <a:p>
            <a:r>
              <a:rPr lang="en-US" sz="3200" b="1">
                <a:solidFill>
                  <a:srgbClr val="1E2761"/>
                </a:solidFill>
                <a:latin typeface="Georgia"/>
                <a:ea typeface="Georgia"/>
              </a:rPr>
              <a:t>SimulIDE Simulation</a:t>
            </a:r>
          </a:p>
        </p:txBody>
      </p:sp>
      <p:sp>
        <p:nvSpPr>
          <p:cNvPr id="100126" name="TextBox 3"/>
          <p:cNvSpPr/>
          <p:nvPr/>
        </p:nvSpPr>
        <p:spPr>
          <a:xfrm>
            <a:off x="540000" y="900000"/>
            <a:ext cx="900000" cy="54000"/>
          </a:xfrm>
          <a:prstGeom prst="rect">
            <a:avLst/>
          </a:prstGeom>
          <a:solidFill>
            <a:srgbClr val="1E2761"/>
          </a:solidFill>
          <a:ln>
            <a:noFill/>
          </a:ln>
        </p:spPr>
        <p:txBody>
          <a:bodyPr/>
          <a:lstStyle/>
          <a:p>
            <a:endParaRPr/>
          </a:p>
        </p:txBody>
      </p:sp>
      <p:sp>
        <p:nvSpPr>
          <p:cNvPr id="100127" name="TextBox 4"/>
          <p:cNvSpPr txBox="1"/>
          <p:nvPr/>
        </p:nvSpPr>
        <p:spPr>
          <a:xfrm>
            <a:off x="540000" y="1152000"/>
            <a:ext cx="10800000" cy="540000"/>
          </a:xfrm>
          <a:prstGeom prst="rect">
            <a:avLst/>
          </a:prstGeom>
        </p:spPr>
        <p:txBody>
          <a:bodyPr/>
          <a:lstStyle/>
          <a:p>
            <a:r>
              <a:rPr lang="en-US" sz="1800">
                <a:solidFill>
                  <a:srgbClr val="333333"/>
                </a:solidFill>
                <a:latin typeface="Calibri"/>
                <a:ea typeface="Calibri"/>
              </a:rPr>
              <a:t>System simulated and verified in SimulIDE before hardware deployment.</a:t>
            </a:r>
          </a:p>
        </p:txBody>
      </p:sp>
      <p:sp>
        <p:nvSpPr>
          <p:cNvPr id="100128" name="TextBox 5"/>
          <p:cNvSpPr/>
          <p:nvPr/>
        </p:nvSpPr>
        <p:spPr>
          <a:xfrm>
            <a:off x="540000" y="1800000"/>
            <a:ext cx="5220000" cy="4140000"/>
          </a:xfrm>
          <a:prstGeom prst="roundRect">
            <a:avLst/>
          </a:prstGeom>
          <a:solidFill>
            <a:srgbClr val="1E2761"/>
          </a:solidFill>
          <a:ln>
            <a:noFill/>
          </a:ln>
        </p:spPr>
        <p:txBody>
          <a:bodyPr/>
          <a:lstStyle/>
          <a:p>
            <a:endParaRPr/>
          </a:p>
        </p:txBody>
      </p:sp>
      <p:sp>
        <p:nvSpPr>
          <p:cNvPr id="100129" name="TextBox 6"/>
          <p:cNvSpPr txBox="1"/>
          <p:nvPr/>
        </p:nvSpPr>
        <p:spPr>
          <a:xfrm>
            <a:off x="720000" y="1908000"/>
            <a:ext cx="4860000" cy="432000"/>
          </a:xfrm>
          <a:prstGeom prst="rect">
            <a:avLst/>
          </a:prstGeom>
        </p:spPr>
        <p:txBody>
          <a:bodyPr/>
          <a:lstStyle/>
          <a:p>
            <a:r>
              <a:rPr lang="en-US" sz="2000" b="1">
                <a:solidFill>
                  <a:srgbClr val="FFFFFF"/>
                </a:solidFill>
                <a:latin typeface="Georgia"/>
                <a:ea typeface="Georgia"/>
              </a:rPr>
              <a:t>Simulation Tests</a:t>
            </a:r>
          </a:p>
        </p:txBody>
      </p:sp>
      <p:sp>
        <p:nvSpPr>
          <p:cNvPr id="100130" name="TextBox 7"/>
          <p:cNvSpPr txBox="1"/>
          <p:nvPr/>
        </p:nvSpPr>
        <p:spPr>
          <a:xfrm>
            <a:off x="720000" y="2412000"/>
            <a:ext cx="4860000" cy="3240000"/>
          </a:xfrm>
          <a:prstGeom prst="rect">
            <a:avLst/>
          </a:prstGeom>
        </p:spPr>
        <p:txBody>
          <a:bodyPr/>
          <a:lstStyle/>
          <a:p>
            <a:r>
              <a:rPr lang="en-US" sz="1500">
                <a:solidFill>
                  <a:srgbClr val="CADCFC"/>
                </a:solidFill>
                <a:latin typeface="Calibri"/>
                <a:ea typeface="Calibri"/>
              </a:rPr>
              <a:t>✓ System startup — clock shows 00:00:00</a:t>
            </a:r>
          </a:p>
          <a:p>
            <a:r>
              <a:rPr lang="en-US" sz="1500">
                <a:solidFill>
                  <a:srgbClr val="CADCFC"/>
                </a:solidFill>
                <a:latin typeface="Calibri"/>
                <a:ea typeface="Calibri"/>
              </a:rPr>
              <a:t>✓ One-second timing — seconds increment</a:t>
            </a:r>
          </a:p>
          <a:p>
            <a:r>
              <a:rPr lang="en-US" sz="1500">
                <a:solidFill>
                  <a:srgbClr val="CADCFC"/>
                </a:solidFill>
                <a:latin typeface="Calibri"/>
                <a:ea typeface="Calibri"/>
              </a:rPr>
              <a:t>✓ Status LED — toggles every 2 seconds</a:t>
            </a:r>
          </a:p>
          <a:p>
            <a:r>
              <a:rPr lang="en-US" sz="1500">
                <a:solidFill>
                  <a:srgbClr val="CADCFC"/>
                </a:solidFill>
                <a:latin typeface="Calibri"/>
                <a:ea typeface="Calibri"/>
              </a:rPr>
              <a:t>✓ Task LED — flashes every 5 seconds</a:t>
            </a:r>
          </a:p>
          <a:p>
            <a:r>
              <a:rPr lang="en-US" sz="1500">
                <a:solidFill>
                  <a:srgbClr val="CADCFC"/>
                </a:solidFill>
                <a:latin typeface="Calibri"/>
                <a:ea typeface="Calibri"/>
              </a:rPr>
              <a:t>✓ SET button — enters time-set mode</a:t>
            </a:r>
          </a:p>
          <a:p>
            <a:r>
              <a:rPr lang="en-US" sz="1500">
                <a:solidFill>
                  <a:srgbClr val="CADCFC"/>
                </a:solidFill>
                <a:latin typeface="Calibri"/>
                <a:ea typeface="Calibri"/>
              </a:rPr>
              <a:t>✓ INC button — increments field</a:t>
            </a:r>
          </a:p>
          <a:p>
            <a:r>
              <a:rPr lang="en-US" sz="1500">
                <a:solidFill>
                  <a:srgbClr val="CADCFC"/>
                </a:solidFill>
                <a:latin typeface="Calibri"/>
                <a:ea typeface="Calibri"/>
              </a:rPr>
              <a:t>✓ RESET button — resets to 00:00:00</a:t>
            </a:r>
          </a:p>
          <a:p>
            <a:r>
              <a:rPr lang="en-US" sz="1500">
                <a:solidFill>
                  <a:srgbClr val="CADCFC"/>
                </a:solidFill>
                <a:latin typeface="Calibri"/>
                <a:ea typeface="Calibri"/>
              </a:rPr>
              <a:t>✓ All three buttons respond correctly</a:t>
            </a:r>
          </a:p>
          <a:p>
            <a:r>
              <a:rPr lang="en-US" sz="1500">
                <a:solidFill>
                  <a:srgbClr val="CADCFC"/>
                </a:solidFill>
                <a:latin typeface="Calibri"/>
                <a:ea typeface="Calibri"/>
              </a:rPr>
              <a:t>✓ Serial output shows HH:MM:SS</a:t>
            </a:r>
          </a:p>
        </p:txBody>
      </p:sp>
      <p:sp>
        <p:nvSpPr>
          <p:cNvPr id="100131" name="TextBox 8"/>
          <p:cNvSpPr/>
          <p:nvPr/>
        </p:nvSpPr>
        <p:spPr>
          <a:xfrm>
            <a:off x="6120000" y="2340000"/>
            <a:ext cx="5351564" cy="3600000"/>
          </a:xfrm>
          <a:prstGeom prst="roundRect">
            <a:avLst/>
          </a:prstGeom>
          <a:solidFill>
            <a:srgbClr val="F5F7FA"/>
          </a:solidFill>
          <a:ln>
            <a:noFill/>
          </a:ln>
        </p:spPr>
        <p:txBody>
          <a:bodyPr/>
          <a:lstStyle/>
          <a:p>
            <a:endParaRPr/>
          </a:p>
        </p:txBody>
      </p:sp>
      <p:sp>
        <p:nvSpPr>
          <p:cNvPr id="100132" name="TextBox 9"/>
          <p:cNvSpPr txBox="1"/>
          <p:nvPr/>
        </p:nvSpPr>
        <p:spPr>
          <a:xfrm>
            <a:off x="6300000" y="1908000"/>
            <a:ext cx="5040000" cy="432000"/>
          </a:xfrm>
          <a:prstGeom prst="rect">
            <a:avLst/>
          </a:prstGeom>
        </p:spPr>
        <p:txBody>
          <a:bodyPr/>
          <a:lstStyle/>
          <a:p>
            <a:r>
              <a:rPr lang="en-US" sz="2000" b="1">
                <a:solidFill>
                  <a:srgbClr val="1E2761"/>
                </a:solidFill>
                <a:latin typeface="Georgia"/>
                <a:ea typeface="Georgia"/>
              </a:rPr>
              <a:t>Simulation Screenshot</a:t>
            </a:r>
          </a:p>
        </p:txBody>
      </p:sp>
      <p:sp>
        <p:nvSpPr>
          <p:cNvPr id="100133" name="TextBox 10"/>
          <p:cNvSpPr txBox="1"/>
          <p:nvPr/>
        </p:nvSpPr>
        <p:spPr>
          <a:xfrm>
            <a:off x="6300000" y="2520000"/>
            <a:ext cx="5040000" cy="2880000"/>
          </a:xfrm>
          <a:prstGeom prst="rect">
            <a:avLst/>
          </a:prstGeom>
        </p:spPr>
        <p:txBody>
          <a:bodyPr/>
          <a:lstStyle/>
          <a:p>
            <a:pPr algn="ctr"/>
            <a:r>
              <a:rPr lang="en-US" sz="1700">
                <a:solidFill>
                  <a:srgbClr val="8899BB"/>
                </a:solidFill>
                <a:latin typeface="Calibri"/>
                <a:ea typeface="Calibri"/>
              </a:rPr>
              <a:t>[Screenshot: SimulIDE circuit]</a:t>
            </a:r>
          </a:p>
          <a:p>
            <a:pPr algn="ctr"/>
            <a:endParaRPr lang="en-US" sz="1700">
              <a:solidFill>
                <a:srgbClr val="8899BB"/>
              </a:solidFill>
              <a:latin typeface="Calibri"/>
              <a:ea typeface="Calibri"/>
            </a:endParaRPr>
          </a:p>
          <a:p>
            <a:pPr algn="ctr"/>
            <a:r>
              <a:rPr lang="en-US" sz="1700">
                <a:solidFill>
                  <a:srgbClr val="8899BB"/>
                </a:solidFill>
                <a:latin typeface="Calibri"/>
                <a:ea typeface="Calibri"/>
              </a:rPr>
              <a:t>See simulide/screenshots/</a:t>
            </a:r>
          </a:p>
          <a:p>
            <a:pPr algn="ctr"/>
            <a:r>
              <a:rPr lang="en-US" sz="1700">
                <a:solidFill>
                  <a:srgbClr val="8899BB"/>
                </a:solidFill>
                <a:latin typeface="Calibri"/>
                <a:ea typeface="Calibri"/>
              </a:rPr>
              <a:t>simulation.png and</a:t>
            </a:r>
          </a:p>
          <a:p>
            <a:pPr algn="ctr"/>
            <a:r>
              <a:rPr lang="en-US" sz="1700">
                <a:solidFill>
                  <a:srgbClr val="8899BB"/>
                </a:solidFill>
                <a:latin typeface="Calibri"/>
                <a:ea typeface="Calibri"/>
              </a:rPr>
              <a:t>schematic.png</a:t>
            </a:r>
          </a:p>
          <a:p>
            <a:pPr algn="ctr"/>
            <a:endParaRPr lang="en-US" sz="1700">
              <a:solidFill>
                <a:srgbClr val="8899BB"/>
              </a:solidFill>
              <a:latin typeface="Calibri"/>
              <a:ea typeface="Calibri"/>
            </a:endParaRPr>
          </a:p>
          <a:p>
            <a:pPr algn="ctr"/>
            <a:r>
              <a:rPr lang="en-US" sz="1700">
                <a:solidFill>
                  <a:srgbClr val="8899BB"/>
                </a:solidFill>
                <a:latin typeface="Calibri"/>
                <a:ea typeface="Calibri"/>
              </a:rPr>
              <a:t>Full working circuit with</a:t>
            </a:r>
          </a:p>
          <a:p>
            <a:pPr algn="ctr"/>
            <a:r>
              <a:rPr lang="en-US" sz="1700">
                <a:solidFill>
                  <a:srgbClr val="8899BB"/>
                </a:solidFill>
                <a:latin typeface="Calibri"/>
                <a:ea typeface="Calibri"/>
              </a:rPr>
              <a:t>ATmega32, LEDs, buttons,</a:t>
            </a:r>
          </a:p>
          <a:p>
            <a:pPr algn="ctr"/>
            <a:r>
              <a:rPr lang="en-US" sz="1700">
                <a:solidFill>
                  <a:srgbClr val="8899BB"/>
                </a:solidFill>
                <a:latin typeface="Calibri"/>
                <a:ea typeface="Calibri"/>
              </a:rPr>
              <a:t>USART serial monitor</a:t>
            </a:r>
          </a:p>
        </p:txBody>
      </p:sp>
      <p:sp>
        <p:nvSpPr>
          <p:cNvPr id="100134" name="TextBox 11"/>
          <p:cNvSpPr txBox="1"/>
          <p:nvPr/>
        </p:nvSpPr>
        <p:spPr>
          <a:xfrm>
            <a:off x="10080000" y="6300000"/>
            <a:ext cx="1800000" cy="360000"/>
          </a:xfrm>
          <a:prstGeom prst="rect">
            <a:avLst/>
          </a:prstGeom>
        </p:spPr>
        <p:txBody>
          <a:bodyPr/>
          <a:lstStyle/>
          <a:p>
            <a:pPr algn="r"/>
            <a:r>
              <a:rPr lang="en-US" sz="1200">
                <a:solidFill>
                  <a:srgbClr val="8899BB"/>
                </a:solidFill>
                <a:latin typeface="Calibri"/>
                <a:ea typeface="Calibri"/>
              </a:rPr>
              <a:t>11 / 14</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0001" y="2412000"/>
            <a:ext cx="5254012" cy="3240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35" name="TextBox 1"/>
          <p:cNvSpPr txBox="1"/>
          <p:nvPr/>
        </p:nvSpPr>
        <p:spPr>
          <a:xfrm>
            <a:off x="540000" y="288000"/>
            <a:ext cx="1080000" cy="540000"/>
          </a:xfrm>
          <a:prstGeom prst="rect">
            <a:avLst/>
          </a:prstGeom>
        </p:spPr>
        <p:txBody>
          <a:bodyPr/>
          <a:lstStyle/>
          <a:p>
            <a:r>
              <a:rPr lang="en-US" sz="3600" b="1">
                <a:solidFill>
                  <a:srgbClr val="1E2761"/>
                </a:solidFill>
                <a:latin typeface="Georgia"/>
                <a:ea typeface="Georgia"/>
              </a:rPr>
              <a:t>11</a:t>
            </a:r>
          </a:p>
        </p:txBody>
      </p:sp>
      <p:sp>
        <p:nvSpPr>
          <p:cNvPr id="100136" name="TextBox 2"/>
          <p:cNvSpPr txBox="1"/>
          <p:nvPr/>
        </p:nvSpPr>
        <p:spPr>
          <a:xfrm>
            <a:off x="1620000" y="288000"/>
            <a:ext cx="7200000" cy="540000"/>
          </a:xfrm>
          <a:prstGeom prst="rect">
            <a:avLst/>
          </a:prstGeom>
        </p:spPr>
        <p:txBody>
          <a:bodyPr/>
          <a:lstStyle/>
          <a:p>
            <a:r>
              <a:rPr lang="en-US" sz="3200" b="1">
                <a:solidFill>
                  <a:srgbClr val="1E2761"/>
                </a:solidFill>
                <a:latin typeface="Georgia"/>
                <a:ea typeface="Georgia"/>
              </a:rPr>
              <a:t>Testing &amp; Verification</a:t>
            </a:r>
          </a:p>
        </p:txBody>
      </p:sp>
      <p:sp>
        <p:nvSpPr>
          <p:cNvPr id="100137" name="TextBox 3"/>
          <p:cNvSpPr/>
          <p:nvPr/>
        </p:nvSpPr>
        <p:spPr>
          <a:xfrm>
            <a:off x="540000" y="900000"/>
            <a:ext cx="900000" cy="54000"/>
          </a:xfrm>
          <a:prstGeom prst="rect">
            <a:avLst/>
          </a:prstGeom>
          <a:solidFill>
            <a:srgbClr val="1E2761"/>
          </a:solidFill>
          <a:ln>
            <a:noFill/>
          </a:ln>
        </p:spPr>
        <p:txBody>
          <a:bodyPr/>
          <a:lstStyle/>
          <a:p>
            <a:endParaRPr/>
          </a:p>
        </p:txBody>
      </p:sp>
      <p:sp>
        <p:nvSpPr>
          <p:cNvPr id="100138" name="TextBox 4"/>
          <p:cNvSpPr txBox="1"/>
          <p:nvPr/>
        </p:nvSpPr>
        <p:spPr>
          <a:xfrm>
            <a:off x="540000" y="1152000"/>
            <a:ext cx="10800000" cy="540000"/>
          </a:xfrm>
          <a:prstGeom prst="rect">
            <a:avLst/>
          </a:prstGeom>
        </p:spPr>
        <p:txBody>
          <a:bodyPr/>
          <a:lstStyle/>
          <a:p>
            <a:pPr algn="ctr"/>
            <a:r>
              <a:rPr lang="en-US" sz="2200" b="1">
                <a:solidFill>
                  <a:srgbClr val="1E2761"/>
                </a:solidFill>
                <a:latin typeface="Georgia"/>
                <a:ea typeface="Georgia"/>
              </a:rPr>
              <a:t>30 / 30 Test Cases Passed — 100% Pass Rate</a:t>
            </a:r>
          </a:p>
        </p:txBody>
      </p:sp>
      <p:sp>
        <p:nvSpPr>
          <p:cNvPr id="100139" name="TextBox 5"/>
          <p:cNvSpPr/>
          <p:nvPr/>
        </p:nvSpPr>
        <p:spPr>
          <a:xfrm>
            <a:off x="540000" y="1800000"/>
            <a:ext cx="2520000" cy="1080000"/>
          </a:xfrm>
          <a:prstGeom prst="roundRect">
            <a:avLst/>
          </a:prstGeom>
          <a:solidFill>
            <a:srgbClr val="1E2761"/>
          </a:solidFill>
          <a:ln>
            <a:noFill/>
          </a:ln>
        </p:spPr>
        <p:txBody>
          <a:bodyPr/>
          <a:lstStyle/>
          <a:p>
            <a:endParaRPr/>
          </a:p>
        </p:txBody>
      </p:sp>
      <p:sp>
        <p:nvSpPr>
          <p:cNvPr id="100140" name="TextBox 6"/>
          <p:cNvSpPr txBox="1"/>
          <p:nvPr/>
        </p:nvSpPr>
        <p:spPr>
          <a:xfrm>
            <a:off x="540000" y="1836000"/>
            <a:ext cx="2520000" cy="360000"/>
          </a:xfrm>
          <a:prstGeom prst="rect">
            <a:avLst/>
          </a:prstGeom>
        </p:spPr>
        <p:txBody>
          <a:bodyPr/>
          <a:lstStyle/>
          <a:p>
            <a:pPr algn="ctr"/>
            <a:r>
              <a:rPr lang="en-US" sz="1600" b="1">
                <a:solidFill>
                  <a:srgbClr val="FFFFFF"/>
                </a:solidFill>
                <a:latin typeface="Georgia"/>
                <a:ea typeface="Georgia"/>
              </a:rPr>
              <a:t>TC-1</a:t>
            </a:r>
          </a:p>
        </p:txBody>
      </p:sp>
      <p:sp>
        <p:nvSpPr>
          <p:cNvPr id="100141" name="TextBox 7"/>
          <p:cNvSpPr txBox="1"/>
          <p:nvPr/>
        </p:nvSpPr>
        <p:spPr>
          <a:xfrm>
            <a:off x="540000" y="2232000"/>
            <a:ext cx="2520000" cy="540000"/>
          </a:xfrm>
          <a:prstGeom prst="rect">
            <a:avLst/>
          </a:prstGeom>
        </p:spPr>
        <p:txBody>
          <a:bodyPr/>
          <a:lstStyle/>
          <a:p>
            <a:pPr algn="ctr"/>
            <a:r>
              <a:rPr lang="en-US" sz="1400">
                <a:solidFill>
                  <a:srgbClr val="CADCFC"/>
                </a:solidFill>
                <a:latin typeface="Calibri"/>
                <a:ea typeface="Calibri"/>
              </a:rPr>
              <a:t>Clock Accuracy</a:t>
            </a:r>
          </a:p>
          <a:p>
            <a:pPr algn="ctr"/>
            <a:r>
              <a:rPr lang="en-US" sz="1400">
                <a:solidFill>
                  <a:srgbClr val="CADCFC"/>
                </a:solidFill>
                <a:latin typeface="Calibri"/>
                <a:ea typeface="Calibri"/>
              </a:rPr>
              <a:t>5 tests  •  100%</a:t>
            </a:r>
          </a:p>
        </p:txBody>
      </p:sp>
      <p:sp>
        <p:nvSpPr>
          <p:cNvPr id="100142" name="TextBox 8"/>
          <p:cNvSpPr/>
          <p:nvPr/>
        </p:nvSpPr>
        <p:spPr>
          <a:xfrm>
            <a:off x="3420000" y="1800000"/>
            <a:ext cx="2520000" cy="1080000"/>
          </a:xfrm>
          <a:prstGeom prst="roundRect">
            <a:avLst/>
          </a:prstGeom>
          <a:solidFill>
            <a:srgbClr val="CADCFC"/>
          </a:solidFill>
          <a:ln>
            <a:noFill/>
          </a:ln>
        </p:spPr>
        <p:txBody>
          <a:bodyPr/>
          <a:lstStyle/>
          <a:p>
            <a:endParaRPr/>
          </a:p>
        </p:txBody>
      </p:sp>
      <p:sp>
        <p:nvSpPr>
          <p:cNvPr id="100143" name="TextBox 9"/>
          <p:cNvSpPr txBox="1"/>
          <p:nvPr/>
        </p:nvSpPr>
        <p:spPr>
          <a:xfrm>
            <a:off x="3420000" y="1836000"/>
            <a:ext cx="2520000" cy="360000"/>
          </a:xfrm>
          <a:prstGeom prst="rect">
            <a:avLst/>
          </a:prstGeom>
        </p:spPr>
        <p:txBody>
          <a:bodyPr/>
          <a:lstStyle/>
          <a:p>
            <a:pPr algn="ctr"/>
            <a:r>
              <a:rPr lang="en-US" sz="1600" b="1">
                <a:solidFill>
                  <a:srgbClr val="1E2761"/>
                </a:solidFill>
                <a:latin typeface="Georgia"/>
                <a:ea typeface="Georgia"/>
              </a:rPr>
              <a:t>TC-2</a:t>
            </a:r>
          </a:p>
        </p:txBody>
      </p:sp>
      <p:sp>
        <p:nvSpPr>
          <p:cNvPr id="100144" name="TextBox 10"/>
          <p:cNvSpPr txBox="1"/>
          <p:nvPr/>
        </p:nvSpPr>
        <p:spPr>
          <a:xfrm>
            <a:off x="3420000" y="2232000"/>
            <a:ext cx="2520000" cy="540000"/>
          </a:xfrm>
          <a:prstGeom prst="rect">
            <a:avLst/>
          </a:prstGeom>
        </p:spPr>
        <p:txBody>
          <a:bodyPr/>
          <a:lstStyle/>
          <a:p>
            <a:pPr algn="ctr"/>
            <a:r>
              <a:rPr lang="en-US" sz="1400">
                <a:solidFill>
                  <a:srgbClr val="333333"/>
                </a:solidFill>
                <a:latin typeface="Calibri"/>
                <a:ea typeface="Calibri"/>
              </a:rPr>
              <a:t>LED Timing</a:t>
            </a:r>
          </a:p>
          <a:p>
            <a:pPr algn="ctr"/>
            <a:r>
              <a:rPr lang="en-US" sz="1400">
                <a:solidFill>
                  <a:srgbClr val="333333"/>
                </a:solidFill>
                <a:latin typeface="Calibri"/>
                <a:ea typeface="Calibri"/>
              </a:rPr>
              <a:t>4 tests  •  100%</a:t>
            </a:r>
          </a:p>
        </p:txBody>
      </p:sp>
      <p:sp>
        <p:nvSpPr>
          <p:cNvPr id="100145" name="TextBox 11"/>
          <p:cNvSpPr/>
          <p:nvPr/>
        </p:nvSpPr>
        <p:spPr>
          <a:xfrm>
            <a:off x="6300000" y="1800000"/>
            <a:ext cx="2520000" cy="1080000"/>
          </a:xfrm>
          <a:prstGeom prst="roundRect">
            <a:avLst/>
          </a:prstGeom>
          <a:solidFill>
            <a:srgbClr val="1E2761"/>
          </a:solidFill>
          <a:ln>
            <a:noFill/>
          </a:ln>
        </p:spPr>
        <p:txBody>
          <a:bodyPr/>
          <a:lstStyle/>
          <a:p>
            <a:endParaRPr/>
          </a:p>
        </p:txBody>
      </p:sp>
      <p:sp>
        <p:nvSpPr>
          <p:cNvPr id="100146" name="TextBox 12"/>
          <p:cNvSpPr txBox="1"/>
          <p:nvPr/>
        </p:nvSpPr>
        <p:spPr>
          <a:xfrm>
            <a:off x="6300000" y="1836000"/>
            <a:ext cx="2520000" cy="360000"/>
          </a:xfrm>
          <a:prstGeom prst="rect">
            <a:avLst/>
          </a:prstGeom>
        </p:spPr>
        <p:txBody>
          <a:bodyPr/>
          <a:lstStyle/>
          <a:p>
            <a:pPr algn="ctr"/>
            <a:r>
              <a:rPr lang="en-US" sz="1600" b="1">
                <a:solidFill>
                  <a:srgbClr val="FFFFFF"/>
                </a:solidFill>
                <a:latin typeface="Georgia"/>
                <a:ea typeface="Georgia"/>
              </a:rPr>
              <a:t>TC-3</a:t>
            </a:r>
          </a:p>
        </p:txBody>
      </p:sp>
      <p:sp>
        <p:nvSpPr>
          <p:cNvPr id="100147" name="TextBox 13"/>
          <p:cNvSpPr txBox="1"/>
          <p:nvPr/>
        </p:nvSpPr>
        <p:spPr>
          <a:xfrm>
            <a:off x="6300000" y="2232000"/>
            <a:ext cx="2520000" cy="540000"/>
          </a:xfrm>
          <a:prstGeom prst="rect">
            <a:avLst/>
          </a:prstGeom>
        </p:spPr>
        <p:txBody>
          <a:bodyPr/>
          <a:lstStyle/>
          <a:p>
            <a:pPr algn="ctr"/>
            <a:r>
              <a:rPr lang="en-US" sz="1400">
                <a:solidFill>
                  <a:srgbClr val="CADCFC"/>
                </a:solidFill>
                <a:latin typeface="Calibri"/>
                <a:ea typeface="Calibri"/>
              </a:rPr>
              <a:t>Button Response</a:t>
            </a:r>
          </a:p>
          <a:p>
            <a:pPr algn="ctr"/>
            <a:r>
              <a:rPr lang="en-US" sz="1400">
                <a:solidFill>
                  <a:srgbClr val="CADCFC"/>
                </a:solidFill>
                <a:latin typeface="Calibri"/>
                <a:ea typeface="Calibri"/>
              </a:rPr>
              <a:t>6 tests  •  100%</a:t>
            </a:r>
          </a:p>
        </p:txBody>
      </p:sp>
      <p:sp>
        <p:nvSpPr>
          <p:cNvPr id="100148" name="TextBox 14"/>
          <p:cNvSpPr/>
          <p:nvPr/>
        </p:nvSpPr>
        <p:spPr>
          <a:xfrm>
            <a:off x="9180000" y="1800000"/>
            <a:ext cx="2520000" cy="1080000"/>
          </a:xfrm>
          <a:prstGeom prst="roundRect">
            <a:avLst/>
          </a:prstGeom>
          <a:solidFill>
            <a:srgbClr val="F5F7FA"/>
          </a:solidFill>
          <a:ln w="25400">
            <a:solidFill>
              <a:srgbClr val="1E2761"/>
            </a:solidFill>
          </a:ln>
        </p:spPr>
        <p:txBody>
          <a:bodyPr/>
          <a:lstStyle/>
          <a:p>
            <a:endParaRPr/>
          </a:p>
        </p:txBody>
      </p:sp>
      <p:sp>
        <p:nvSpPr>
          <p:cNvPr id="100149" name="TextBox 15"/>
          <p:cNvSpPr txBox="1"/>
          <p:nvPr/>
        </p:nvSpPr>
        <p:spPr>
          <a:xfrm>
            <a:off x="9180000" y="1836000"/>
            <a:ext cx="2520000" cy="360000"/>
          </a:xfrm>
          <a:prstGeom prst="rect">
            <a:avLst/>
          </a:prstGeom>
        </p:spPr>
        <p:txBody>
          <a:bodyPr/>
          <a:lstStyle/>
          <a:p>
            <a:pPr algn="ctr"/>
            <a:r>
              <a:rPr lang="en-US" sz="1600" b="1">
                <a:solidFill>
                  <a:srgbClr val="1E2761"/>
                </a:solidFill>
                <a:latin typeface="Georgia"/>
                <a:ea typeface="Georgia"/>
              </a:rPr>
              <a:t>TC-4</a:t>
            </a:r>
          </a:p>
        </p:txBody>
      </p:sp>
      <p:sp>
        <p:nvSpPr>
          <p:cNvPr id="100150" name="TextBox 16"/>
          <p:cNvSpPr txBox="1"/>
          <p:nvPr/>
        </p:nvSpPr>
        <p:spPr>
          <a:xfrm>
            <a:off x="9180000" y="2232000"/>
            <a:ext cx="2520000" cy="540000"/>
          </a:xfrm>
          <a:prstGeom prst="rect">
            <a:avLst/>
          </a:prstGeom>
        </p:spPr>
        <p:txBody>
          <a:bodyPr/>
          <a:lstStyle/>
          <a:p>
            <a:pPr algn="ctr"/>
            <a:r>
              <a:rPr lang="en-US" sz="1400">
                <a:solidFill>
                  <a:srgbClr val="333333"/>
                </a:solidFill>
                <a:latin typeface="Calibri"/>
                <a:ea typeface="Calibri"/>
              </a:rPr>
              <a:t>USART Comms</a:t>
            </a:r>
          </a:p>
          <a:p>
            <a:pPr algn="ctr"/>
            <a:r>
              <a:rPr lang="en-US" sz="1400">
                <a:solidFill>
                  <a:srgbClr val="333333"/>
                </a:solidFill>
                <a:latin typeface="Calibri"/>
                <a:ea typeface="Calibri"/>
              </a:rPr>
              <a:t>4 tests  •  100%</a:t>
            </a:r>
          </a:p>
        </p:txBody>
      </p:sp>
      <p:sp>
        <p:nvSpPr>
          <p:cNvPr id="100151" name="TextBox 17"/>
          <p:cNvSpPr/>
          <p:nvPr/>
        </p:nvSpPr>
        <p:spPr>
          <a:xfrm>
            <a:off x="540000" y="3060000"/>
            <a:ext cx="2520000" cy="1080000"/>
          </a:xfrm>
          <a:prstGeom prst="roundRect">
            <a:avLst/>
          </a:prstGeom>
          <a:solidFill>
            <a:srgbClr val="1E2761"/>
          </a:solidFill>
          <a:ln>
            <a:noFill/>
          </a:ln>
        </p:spPr>
        <p:txBody>
          <a:bodyPr/>
          <a:lstStyle/>
          <a:p>
            <a:endParaRPr/>
          </a:p>
        </p:txBody>
      </p:sp>
      <p:sp>
        <p:nvSpPr>
          <p:cNvPr id="100152" name="TextBox 18"/>
          <p:cNvSpPr txBox="1"/>
          <p:nvPr/>
        </p:nvSpPr>
        <p:spPr>
          <a:xfrm>
            <a:off x="540000" y="3096000"/>
            <a:ext cx="2520000" cy="360000"/>
          </a:xfrm>
          <a:prstGeom prst="rect">
            <a:avLst/>
          </a:prstGeom>
        </p:spPr>
        <p:txBody>
          <a:bodyPr/>
          <a:lstStyle/>
          <a:p>
            <a:pPr algn="ctr"/>
            <a:r>
              <a:rPr lang="en-US" sz="1600" b="1">
                <a:solidFill>
                  <a:srgbClr val="FFFFFF"/>
                </a:solidFill>
                <a:latin typeface="Georgia"/>
                <a:ea typeface="Georgia"/>
              </a:rPr>
              <a:t>TC-5</a:t>
            </a:r>
          </a:p>
        </p:txBody>
      </p:sp>
      <p:sp>
        <p:nvSpPr>
          <p:cNvPr id="100153" name="TextBox 19"/>
          <p:cNvSpPr txBox="1"/>
          <p:nvPr/>
        </p:nvSpPr>
        <p:spPr>
          <a:xfrm>
            <a:off x="540000" y="3492000"/>
            <a:ext cx="2520000" cy="540000"/>
          </a:xfrm>
          <a:prstGeom prst="rect">
            <a:avLst/>
          </a:prstGeom>
        </p:spPr>
        <p:txBody>
          <a:bodyPr/>
          <a:lstStyle/>
          <a:p>
            <a:pPr algn="ctr"/>
            <a:r>
              <a:rPr lang="en-US" sz="1400">
                <a:solidFill>
                  <a:srgbClr val="CADCFC"/>
                </a:solidFill>
                <a:latin typeface="Calibri"/>
                <a:ea typeface="Calibri"/>
              </a:rPr>
              <a:t>Rollover &amp; Edges</a:t>
            </a:r>
          </a:p>
          <a:p>
            <a:pPr algn="ctr"/>
            <a:r>
              <a:rPr lang="en-US" sz="1400">
                <a:solidFill>
                  <a:srgbClr val="CADCFC"/>
                </a:solidFill>
                <a:latin typeface="Calibri"/>
                <a:ea typeface="Calibri"/>
              </a:rPr>
              <a:t>5 tests  •  100%</a:t>
            </a:r>
          </a:p>
        </p:txBody>
      </p:sp>
      <p:sp>
        <p:nvSpPr>
          <p:cNvPr id="100154" name="TextBox 20"/>
          <p:cNvSpPr/>
          <p:nvPr/>
        </p:nvSpPr>
        <p:spPr>
          <a:xfrm>
            <a:off x="3420000" y="3060000"/>
            <a:ext cx="2520000" cy="1080000"/>
          </a:xfrm>
          <a:prstGeom prst="roundRect">
            <a:avLst/>
          </a:prstGeom>
          <a:solidFill>
            <a:srgbClr val="CADCFC"/>
          </a:solidFill>
          <a:ln>
            <a:noFill/>
          </a:ln>
        </p:spPr>
        <p:txBody>
          <a:bodyPr/>
          <a:lstStyle/>
          <a:p>
            <a:endParaRPr/>
          </a:p>
        </p:txBody>
      </p:sp>
      <p:sp>
        <p:nvSpPr>
          <p:cNvPr id="100155" name="TextBox 21"/>
          <p:cNvSpPr txBox="1"/>
          <p:nvPr/>
        </p:nvSpPr>
        <p:spPr>
          <a:xfrm>
            <a:off x="3420000" y="3096000"/>
            <a:ext cx="2520000" cy="360000"/>
          </a:xfrm>
          <a:prstGeom prst="rect">
            <a:avLst/>
          </a:prstGeom>
        </p:spPr>
        <p:txBody>
          <a:bodyPr/>
          <a:lstStyle/>
          <a:p>
            <a:pPr algn="ctr"/>
            <a:r>
              <a:rPr lang="en-US" sz="1600" b="1">
                <a:solidFill>
                  <a:srgbClr val="1E2761"/>
                </a:solidFill>
                <a:latin typeface="Georgia"/>
                <a:ea typeface="Georgia"/>
              </a:rPr>
              <a:t>TC-6</a:t>
            </a:r>
          </a:p>
        </p:txBody>
      </p:sp>
      <p:sp>
        <p:nvSpPr>
          <p:cNvPr id="100156" name="TextBox 22"/>
          <p:cNvSpPr txBox="1"/>
          <p:nvPr/>
        </p:nvSpPr>
        <p:spPr>
          <a:xfrm>
            <a:off x="3420000" y="3492000"/>
            <a:ext cx="2520000" cy="540000"/>
          </a:xfrm>
          <a:prstGeom prst="rect">
            <a:avLst/>
          </a:prstGeom>
        </p:spPr>
        <p:txBody>
          <a:bodyPr/>
          <a:lstStyle/>
          <a:p>
            <a:pPr algn="ctr"/>
            <a:r>
              <a:rPr lang="en-US" sz="1400">
                <a:solidFill>
                  <a:srgbClr val="333333"/>
                </a:solidFill>
                <a:latin typeface="Calibri"/>
                <a:ea typeface="Calibri"/>
              </a:rPr>
              <a:t>Power &amp; Reset</a:t>
            </a:r>
          </a:p>
          <a:p>
            <a:pPr algn="ctr"/>
            <a:r>
              <a:rPr lang="en-US" sz="1400">
                <a:solidFill>
                  <a:srgbClr val="333333"/>
                </a:solidFill>
                <a:latin typeface="Calibri"/>
                <a:ea typeface="Calibri"/>
              </a:rPr>
              <a:t>3 tests  •  100%</a:t>
            </a:r>
          </a:p>
        </p:txBody>
      </p:sp>
      <p:sp>
        <p:nvSpPr>
          <p:cNvPr id="100157" name="TextBox 23"/>
          <p:cNvSpPr/>
          <p:nvPr/>
        </p:nvSpPr>
        <p:spPr>
          <a:xfrm>
            <a:off x="6300000" y="3060000"/>
            <a:ext cx="2520000" cy="1080000"/>
          </a:xfrm>
          <a:prstGeom prst="roundRect">
            <a:avLst/>
          </a:prstGeom>
          <a:solidFill>
            <a:srgbClr val="1E2761"/>
          </a:solidFill>
          <a:ln>
            <a:noFill/>
          </a:ln>
        </p:spPr>
        <p:txBody>
          <a:bodyPr/>
          <a:lstStyle/>
          <a:p>
            <a:endParaRPr/>
          </a:p>
        </p:txBody>
      </p:sp>
      <p:sp>
        <p:nvSpPr>
          <p:cNvPr id="100158" name="TextBox 24"/>
          <p:cNvSpPr txBox="1"/>
          <p:nvPr/>
        </p:nvSpPr>
        <p:spPr>
          <a:xfrm>
            <a:off x="6300000" y="3096000"/>
            <a:ext cx="2520000" cy="360000"/>
          </a:xfrm>
          <a:prstGeom prst="rect">
            <a:avLst/>
          </a:prstGeom>
        </p:spPr>
        <p:txBody>
          <a:bodyPr/>
          <a:lstStyle/>
          <a:p>
            <a:pPr algn="ctr"/>
            <a:r>
              <a:rPr lang="en-US" sz="1600" b="1">
                <a:solidFill>
                  <a:srgbClr val="FFFFFF"/>
                </a:solidFill>
                <a:latin typeface="Georgia"/>
                <a:ea typeface="Georgia"/>
              </a:rPr>
              <a:t>TC-7</a:t>
            </a:r>
          </a:p>
        </p:txBody>
      </p:sp>
      <p:sp>
        <p:nvSpPr>
          <p:cNvPr id="100159" name="TextBox 25"/>
          <p:cNvSpPr txBox="1"/>
          <p:nvPr/>
        </p:nvSpPr>
        <p:spPr>
          <a:xfrm>
            <a:off x="6300000" y="3492000"/>
            <a:ext cx="2520000" cy="540000"/>
          </a:xfrm>
          <a:prstGeom prst="rect">
            <a:avLst/>
          </a:prstGeom>
        </p:spPr>
        <p:txBody>
          <a:bodyPr/>
          <a:lstStyle/>
          <a:p>
            <a:pPr algn="ctr"/>
            <a:r>
              <a:rPr lang="en-US" sz="1400">
                <a:solidFill>
                  <a:srgbClr val="CADCFC"/>
                </a:solidFill>
                <a:latin typeface="Calibri"/>
                <a:ea typeface="Calibri"/>
              </a:rPr>
              <a:t>Concurrent Ops</a:t>
            </a:r>
          </a:p>
          <a:p>
            <a:pPr algn="ctr"/>
            <a:r>
              <a:rPr lang="en-US" sz="1400">
                <a:solidFill>
                  <a:srgbClr val="CADCFC"/>
                </a:solidFill>
                <a:latin typeface="Calibri"/>
                <a:ea typeface="Calibri"/>
              </a:rPr>
              <a:t>3 tests  •  100%</a:t>
            </a:r>
          </a:p>
        </p:txBody>
      </p:sp>
      <p:sp>
        <p:nvSpPr>
          <p:cNvPr id="100160" name="TextBox 26"/>
          <p:cNvSpPr txBox="1"/>
          <p:nvPr/>
        </p:nvSpPr>
        <p:spPr>
          <a:xfrm>
            <a:off x="540000" y="4500000"/>
            <a:ext cx="10800000" cy="432000"/>
          </a:xfrm>
          <a:prstGeom prst="rect">
            <a:avLst/>
          </a:prstGeom>
        </p:spPr>
        <p:txBody>
          <a:bodyPr/>
          <a:lstStyle/>
          <a:p>
            <a:r>
              <a:rPr lang="en-US" sz="2000" b="1">
                <a:solidFill>
                  <a:srgbClr val="1E2761"/>
                </a:solidFill>
                <a:latin typeface="Georgia"/>
                <a:ea typeface="Georgia"/>
              </a:rPr>
              <a:t>Key Testing Highlights</a:t>
            </a:r>
          </a:p>
        </p:txBody>
      </p:sp>
      <p:sp>
        <p:nvSpPr>
          <p:cNvPr id="100161" name="TextBox 27"/>
          <p:cNvSpPr/>
          <p:nvPr/>
        </p:nvSpPr>
        <p:spPr>
          <a:xfrm>
            <a:off x="540000" y="5040000"/>
            <a:ext cx="36000" cy="1260000"/>
          </a:xfrm>
          <a:prstGeom prst="rect">
            <a:avLst/>
          </a:prstGeom>
          <a:solidFill>
            <a:srgbClr val="1E2761"/>
          </a:solidFill>
          <a:ln>
            <a:noFill/>
          </a:ln>
        </p:spPr>
        <p:txBody>
          <a:bodyPr/>
          <a:lstStyle/>
          <a:p>
            <a:endParaRPr/>
          </a:p>
        </p:txBody>
      </p:sp>
      <p:sp>
        <p:nvSpPr>
          <p:cNvPr id="100162" name="TextBox 28"/>
          <p:cNvSpPr txBox="1"/>
          <p:nvPr/>
        </p:nvSpPr>
        <p:spPr>
          <a:xfrm>
            <a:off x="720000" y="5040000"/>
            <a:ext cx="10800000" cy="1440000"/>
          </a:xfrm>
          <a:prstGeom prst="rect">
            <a:avLst/>
          </a:prstGeom>
        </p:spPr>
        <p:txBody>
          <a:bodyPr/>
          <a:lstStyle/>
          <a:p>
            <a:r>
              <a:rPr lang="en-US" sz="1600">
                <a:solidFill>
                  <a:srgbClr val="333333"/>
                </a:solidFill>
                <a:latin typeface="Calibri"/>
                <a:ea typeface="Calibri"/>
              </a:rPr>
              <a:t>✓ 10-minute drift test: ±0.12 seconds (within tolerance)</a:t>
            </a:r>
          </a:p>
          <a:p>
            <a:r>
              <a:rPr lang="en-US" sz="1600">
                <a:solidFill>
                  <a:srgbClr val="333333"/>
                </a:solidFill>
                <a:latin typeface="Calibri"/>
                <a:ea typeface="Calibri"/>
              </a:rPr>
              <a:t>✓ Rapid button press test: 10 presses, zero double-triggers</a:t>
            </a:r>
          </a:p>
          <a:p>
            <a:r>
              <a:rPr lang="en-US" sz="1600">
                <a:solidFill>
                  <a:srgbClr val="333333"/>
                </a:solidFill>
                <a:latin typeface="Calibri"/>
                <a:ea typeface="Calibri"/>
              </a:rPr>
              <a:t>✓ Simultaneous LED events at t=10s: both executed correctly</a:t>
            </a:r>
          </a:p>
          <a:p>
            <a:r>
              <a:rPr lang="en-US" sz="1600">
                <a:solidFill>
                  <a:srgbClr val="333333"/>
                </a:solidFill>
                <a:latin typeface="Calibri"/>
                <a:ea typeface="Calibri"/>
              </a:rPr>
              <a:t>✓ Wrong baud rate test: confirmed 9600 baud (garbled at 4800)</a:t>
            </a:r>
          </a:p>
        </p:txBody>
      </p:sp>
      <p:sp>
        <p:nvSpPr>
          <p:cNvPr id="100163" name="TextBox 29"/>
          <p:cNvSpPr txBox="1"/>
          <p:nvPr/>
        </p:nvSpPr>
        <p:spPr>
          <a:xfrm>
            <a:off x="10080000" y="6300000"/>
            <a:ext cx="1800000" cy="360000"/>
          </a:xfrm>
          <a:prstGeom prst="rect">
            <a:avLst/>
          </a:prstGeom>
        </p:spPr>
        <p:txBody>
          <a:bodyPr/>
          <a:lstStyle/>
          <a:p>
            <a:pPr algn="r"/>
            <a:r>
              <a:rPr lang="en-US" sz="1200">
                <a:solidFill>
                  <a:srgbClr val="8899BB"/>
                </a:solidFill>
                <a:latin typeface="Calibri"/>
                <a:ea typeface="Calibri"/>
              </a:rPr>
              <a:t>12 / 14</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64" name="TextBox 1"/>
          <p:cNvSpPr txBox="1"/>
          <p:nvPr/>
        </p:nvSpPr>
        <p:spPr>
          <a:xfrm>
            <a:off x="540000" y="288000"/>
            <a:ext cx="1080000" cy="540000"/>
          </a:xfrm>
          <a:prstGeom prst="rect">
            <a:avLst/>
          </a:prstGeom>
        </p:spPr>
        <p:txBody>
          <a:bodyPr/>
          <a:lstStyle/>
          <a:p>
            <a:r>
              <a:rPr lang="en-US" sz="3600" b="1">
                <a:solidFill>
                  <a:srgbClr val="1E2761"/>
                </a:solidFill>
                <a:latin typeface="Georgia"/>
                <a:ea typeface="Georgia"/>
              </a:rPr>
              <a:t>12</a:t>
            </a:r>
          </a:p>
        </p:txBody>
      </p:sp>
      <p:sp>
        <p:nvSpPr>
          <p:cNvPr id="100165" name="TextBox 2"/>
          <p:cNvSpPr txBox="1"/>
          <p:nvPr/>
        </p:nvSpPr>
        <p:spPr>
          <a:xfrm>
            <a:off x="1620000" y="288000"/>
            <a:ext cx="7200000" cy="540000"/>
          </a:xfrm>
          <a:prstGeom prst="rect">
            <a:avLst/>
          </a:prstGeom>
        </p:spPr>
        <p:txBody>
          <a:bodyPr/>
          <a:lstStyle/>
          <a:p>
            <a:r>
              <a:rPr lang="en-US" sz="3200" b="1">
                <a:solidFill>
                  <a:srgbClr val="1E2761"/>
                </a:solidFill>
                <a:latin typeface="Georgia"/>
                <a:ea typeface="Georgia"/>
              </a:rPr>
              <a:t>GitHub Repository</a:t>
            </a:r>
          </a:p>
        </p:txBody>
      </p:sp>
      <p:sp>
        <p:nvSpPr>
          <p:cNvPr id="100166" name="TextBox 3"/>
          <p:cNvSpPr/>
          <p:nvPr/>
        </p:nvSpPr>
        <p:spPr>
          <a:xfrm>
            <a:off x="540000" y="900000"/>
            <a:ext cx="900000" cy="54000"/>
          </a:xfrm>
          <a:prstGeom prst="rect">
            <a:avLst/>
          </a:prstGeom>
          <a:solidFill>
            <a:srgbClr val="1E2761"/>
          </a:solidFill>
          <a:ln>
            <a:noFill/>
          </a:ln>
        </p:spPr>
        <p:txBody>
          <a:bodyPr/>
          <a:lstStyle/>
          <a:p>
            <a:endParaRPr/>
          </a:p>
        </p:txBody>
      </p:sp>
      <p:sp>
        <p:nvSpPr>
          <p:cNvPr id="100167" name="TextBox 4"/>
          <p:cNvSpPr/>
          <p:nvPr/>
        </p:nvSpPr>
        <p:spPr>
          <a:xfrm>
            <a:off x="540000" y="1260000"/>
            <a:ext cx="11113200" cy="4860000"/>
          </a:xfrm>
          <a:prstGeom prst="roundRect">
            <a:avLst/>
          </a:prstGeom>
          <a:solidFill>
            <a:srgbClr val="F5F7FA"/>
          </a:solidFill>
          <a:ln>
            <a:noFill/>
          </a:ln>
        </p:spPr>
        <p:txBody>
          <a:bodyPr/>
          <a:lstStyle/>
          <a:p>
            <a:endParaRPr/>
          </a:p>
        </p:txBody>
      </p:sp>
      <p:sp>
        <p:nvSpPr>
          <p:cNvPr id="100168" name="TextBox 5"/>
          <p:cNvSpPr txBox="1"/>
          <p:nvPr/>
        </p:nvSpPr>
        <p:spPr>
          <a:xfrm>
            <a:off x="720000" y="1368000"/>
            <a:ext cx="5040000" cy="432000"/>
          </a:xfrm>
          <a:prstGeom prst="rect">
            <a:avLst/>
          </a:prstGeom>
        </p:spPr>
        <p:txBody>
          <a:bodyPr/>
          <a:lstStyle/>
          <a:p>
            <a:r>
              <a:rPr lang="en-US" sz="2000" b="1">
                <a:solidFill>
                  <a:srgbClr val="1E2761"/>
                </a:solidFill>
                <a:latin typeface="Georgia"/>
                <a:ea typeface="Georgia"/>
              </a:rPr>
              <a:t>Repository Structure</a:t>
            </a:r>
          </a:p>
        </p:txBody>
      </p:sp>
      <p:sp>
        <p:nvSpPr>
          <p:cNvPr id="100169" name="TextBox 6"/>
          <p:cNvSpPr txBox="1"/>
          <p:nvPr/>
        </p:nvSpPr>
        <p:spPr>
          <a:xfrm>
            <a:off x="720000" y="1872000"/>
            <a:ext cx="10440000" cy="3960000"/>
          </a:xfrm>
          <a:prstGeom prst="rect">
            <a:avLst/>
          </a:prstGeom>
        </p:spPr>
        <p:txBody>
          <a:bodyPr/>
          <a:lstStyle/>
          <a:p>
            <a:r>
              <a:rPr lang="en-US" sz="1300">
                <a:solidFill>
                  <a:srgbClr val="333333"/>
                </a:solidFill>
                <a:latin typeface="Consolas"/>
                <a:ea typeface="Consolas"/>
              </a:rPr>
              <a:t>ATmega32_Timer_Digital_Clock_Scheduler/</a:t>
            </a:r>
          </a:p>
          <a:p>
            <a:r>
              <a:rPr lang="en-US" sz="1300">
                <a:solidFill>
                  <a:srgbClr val="333333"/>
                </a:solidFill>
                <a:latin typeface="Consolas"/>
                <a:ea typeface="Consolas"/>
              </a:rPr>
              <a:t>├── README.md</a:t>
            </a:r>
          </a:p>
          <a:p>
            <a:r>
              <a:rPr lang="en-US" sz="1300">
                <a:solidFill>
                  <a:srgbClr val="333333"/>
                </a:solidFill>
                <a:latin typeface="Consolas"/>
                <a:ea typeface="Consolas"/>
              </a:rPr>
              <a:t>├── firmware/</a:t>
            </a:r>
          </a:p>
          <a:p>
            <a:r>
              <a:rPr lang="en-US" sz="1300">
                <a:solidFill>
                  <a:srgbClr val="333333"/>
                </a:solidFill>
                <a:latin typeface="Consolas"/>
                <a:ea typeface="Consolas"/>
              </a:rPr>
              <a:t>│   ├── src/ (main.c, timer.c, display.c, scheduler.c, buttons.c)</a:t>
            </a:r>
          </a:p>
          <a:p>
            <a:r>
              <a:rPr lang="en-US" sz="1300">
                <a:solidFill>
                  <a:srgbClr val="333333"/>
                </a:solidFill>
                <a:latin typeface="Consolas"/>
                <a:ea typeface="Consolas"/>
              </a:rPr>
              <a:t>│   ├── include/ (config.h, timer.h, display.h, scheduler.h, buttons.h)</a:t>
            </a:r>
          </a:p>
          <a:p>
            <a:r>
              <a:rPr lang="en-US" sz="1300">
                <a:solidFill>
                  <a:srgbClr val="333333"/>
                </a:solidFill>
                <a:latin typeface="Consolas"/>
                <a:ea typeface="Consolas"/>
              </a:rPr>
              <a:t>│   ├── hex/main.hex</a:t>
            </a:r>
          </a:p>
          <a:p>
            <a:r>
              <a:rPr lang="en-US" sz="1300">
                <a:solidFill>
                  <a:srgbClr val="333333"/>
                </a:solidFill>
                <a:latin typeface="Consolas"/>
                <a:ea typeface="Consolas"/>
              </a:rPr>
              <a:t>│   └── Makefile</a:t>
            </a:r>
          </a:p>
          <a:p>
            <a:r>
              <a:rPr lang="en-US" sz="1300">
                <a:solidFill>
                  <a:srgbClr val="333333"/>
                </a:solidFill>
                <a:latin typeface="Consolas"/>
                <a:ea typeface="Consolas"/>
              </a:rPr>
              <a:t>├── kicad/</a:t>
            </a:r>
          </a:p>
          <a:p>
            <a:r>
              <a:rPr lang="en-US" sz="1300">
                <a:solidFill>
                  <a:srgbClr val="333333"/>
                </a:solidFill>
                <a:latin typeface="Consolas"/>
                <a:ea typeface="Consolas"/>
              </a:rPr>
              <a:t>│   ├── schematic/ (KiCad .kicad_sch, PDF)</a:t>
            </a:r>
          </a:p>
          <a:p>
            <a:r>
              <a:rPr lang="en-US" sz="1300">
                <a:solidFill>
                  <a:srgbClr val="333333"/>
                </a:solidFill>
                <a:latin typeface="Consolas"/>
                <a:ea typeface="Consolas"/>
              </a:rPr>
              <a:t>│   ├── pcb/ (KiCad .kicad_pcb)</a:t>
            </a:r>
          </a:p>
          <a:p>
            <a:r>
              <a:rPr lang="en-US" sz="1300">
                <a:solidFill>
                  <a:srgbClr val="333333"/>
                </a:solidFill>
                <a:latin typeface="Consolas"/>
                <a:ea typeface="Consolas"/>
              </a:rPr>
              <a:t>│   └── gerber/ (26 Gerber files + drill)</a:t>
            </a:r>
          </a:p>
          <a:p>
            <a:r>
              <a:rPr lang="en-US" sz="1300">
                <a:solidFill>
                  <a:srgbClr val="333333"/>
                </a:solidFill>
                <a:latin typeface="Consolas"/>
                <a:ea typeface="Consolas"/>
              </a:rPr>
              <a:t>├── simulide/</a:t>
            </a:r>
          </a:p>
          <a:p>
            <a:r>
              <a:rPr lang="en-US" sz="1300">
                <a:solidFill>
                  <a:srgbClr val="333333"/>
                </a:solidFill>
                <a:latin typeface="Consolas"/>
                <a:ea typeface="Consolas"/>
              </a:rPr>
              <a:t>│   ├── circuit/ (.simu circuit file)</a:t>
            </a:r>
          </a:p>
          <a:p>
            <a:r>
              <a:rPr lang="en-US" sz="1300">
                <a:solidFill>
                  <a:srgbClr val="333333"/>
                </a:solidFill>
                <a:latin typeface="Consolas"/>
                <a:ea typeface="Consolas"/>
              </a:rPr>
              <a:t>│   └── screenshots/ (simulation &amp; schematic)</a:t>
            </a:r>
          </a:p>
          <a:p>
            <a:r>
              <a:rPr lang="en-US" sz="1300">
                <a:solidFill>
                  <a:srgbClr val="333333"/>
                </a:solidFill>
                <a:latin typeface="Consolas"/>
                <a:ea typeface="Consolas"/>
              </a:rPr>
              <a:t>├── documentation/</a:t>
            </a:r>
          </a:p>
          <a:p>
            <a:r>
              <a:rPr lang="en-US" sz="1300">
                <a:solidFill>
                  <a:srgbClr val="333333"/>
                </a:solidFill>
                <a:latin typeface="Consolas"/>
                <a:ea typeface="Consolas"/>
              </a:rPr>
              <a:t>│   ├── block_diagram.md, flowchart.md</a:t>
            </a:r>
          </a:p>
          <a:p>
            <a:r>
              <a:rPr lang="en-US" sz="1300">
                <a:solidFill>
                  <a:srgbClr val="333333"/>
                </a:solidFill>
                <a:latin typeface="Consolas"/>
                <a:ea typeface="Consolas"/>
              </a:rPr>
              <a:t>│   ├── timer_configuration.md</a:t>
            </a:r>
          </a:p>
          <a:p>
            <a:r>
              <a:rPr lang="en-US" sz="1300">
                <a:solidFill>
                  <a:srgbClr val="333333"/>
                </a:solidFill>
                <a:latin typeface="Consolas"/>
                <a:ea typeface="Consolas"/>
              </a:rPr>
              <a:t>│   ├── compare_match_calculation.md</a:t>
            </a:r>
          </a:p>
          <a:p>
            <a:r>
              <a:rPr lang="en-US" sz="1300">
                <a:solidFill>
                  <a:srgbClr val="333333"/>
                </a:solidFill>
                <a:latin typeface="Consolas"/>
                <a:ea typeface="Consolas"/>
              </a:rPr>
              <a:t>│   ├── pin_mapping_table.md</a:t>
            </a:r>
          </a:p>
          <a:p>
            <a:r>
              <a:rPr lang="en-US" sz="1300">
                <a:solidFill>
                  <a:srgbClr val="333333"/>
                </a:solidFill>
                <a:latin typeface="Consolas"/>
                <a:ea typeface="Consolas"/>
              </a:rPr>
              <a:t>│   └── test_results.md</a:t>
            </a:r>
          </a:p>
          <a:p>
            <a:r>
              <a:rPr lang="en-US" sz="1300">
                <a:solidFill>
                  <a:srgbClr val="333333"/>
                </a:solidFill>
                <a:latin typeface="Consolas"/>
                <a:ea typeface="Consolas"/>
              </a:rPr>
              <a:t>└── media/</a:t>
            </a:r>
          </a:p>
        </p:txBody>
      </p:sp>
      <p:sp>
        <p:nvSpPr>
          <p:cNvPr id="100170" name="TextBox 7"/>
          <p:cNvSpPr txBox="1"/>
          <p:nvPr/>
        </p:nvSpPr>
        <p:spPr>
          <a:xfrm>
            <a:off x="10080000" y="6300000"/>
            <a:ext cx="1800000" cy="360000"/>
          </a:xfrm>
          <a:prstGeom prst="rect">
            <a:avLst/>
          </a:prstGeom>
        </p:spPr>
        <p:txBody>
          <a:bodyPr/>
          <a:lstStyle/>
          <a:p>
            <a:pPr algn="r"/>
            <a:r>
              <a:rPr lang="en-US" sz="1200">
                <a:solidFill>
                  <a:srgbClr val="8899BB"/>
                </a:solidFill>
                <a:latin typeface="Calibri"/>
                <a:ea typeface="Calibri"/>
              </a:rPr>
              <a:t>13 / 14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71" name="TextBox 1"/>
          <p:cNvSpPr txBox="1"/>
          <p:nvPr/>
        </p:nvSpPr>
        <p:spPr>
          <a:xfrm>
            <a:off x="540000" y="288000"/>
            <a:ext cx="1080000" cy="540000"/>
          </a:xfrm>
          <a:prstGeom prst="rect">
            <a:avLst/>
          </a:prstGeom>
        </p:spPr>
        <p:txBody>
          <a:bodyPr/>
          <a:lstStyle/>
          <a:p>
            <a:r>
              <a:rPr lang="en-US" sz="3600" b="1">
                <a:solidFill>
                  <a:srgbClr val="1E2761"/>
                </a:solidFill>
                <a:latin typeface="Georgia"/>
                <a:ea typeface="Georgia"/>
              </a:rPr>
              <a:t>13</a:t>
            </a:r>
          </a:p>
        </p:txBody>
      </p:sp>
      <p:sp>
        <p:nvSpPr>
          <p:cNvPr id="100172" name="TextBox 2"/>
          <p:cNvSpPr txBox="1"/>
          <p:nvPr/>
        </p:nvSpPr>
        <p:spPr>
          <a:xfrm>
            <a:off x="1620000" y="288000"/>
            <a:ext cx="7200000" cy="540000"/>
          </a:xfrm>
          <a:prstGeom prst="rect">
            <a:avLst/>
          </a:prstGeom>
        </p:spPr>
        <p:txBody>
          <a:bodyPr/>
          <a:lstStyle/>
          <a:p>
            <a:r>
              <a:rPr lang="en-US" sz="3200" b="1">
                <a:solidFill>
                  <a:srgbClr val="1E2761"/>
                </a:solidFill>
                <a:latin typeface="Georgia"/>
                <a:ea typeface="Georgia"/>
              </a:rPr>
              <a:t>Conclusion</a:t>
            </a:r>
          </a:p>
        </p:txBody>
      </p:sp>
      <p:sp>
        <p:nvSpPr>
          <p:cNvPr id="100173" name="TextBox 3"/>
          <p:cNvSpPr/>
          <p:nvPr/>
        </p:nvSpPr>
        <p:spPr>
          <a:xfrm>
            <a:off x="540000" y="900000"/>
            <a:ext cx="900000" cy="54000"/>
          </a:xfrm>
          <a:prstGeom prst="rect">
            <a:avLst/>
          </a:prstGeom>
          <a:solidFill>
            <a:srgbClr val="1E2761"/>
          </a:solidFill>
          <a:ln>
            <a:noFill/>
          </a:ln>
        </p:spPr>
        <p:txBody>
          <a:bodyPr/>
          <a:lstStyle/>
          <a:p>
            <a:endParaRPr/>
          </a:p>
        </p:txBody>
      </p:sp>
      <p:sp>
        <p:nvSpPr>
          <p:cNvPr id="100174" name="TextBox 4"/>
          <p:cNvSpPr txBox="1"/>
          <p:nvPr/>
        </p:nvSpPr>
        <p:spPr>
          <a:xfrm>
            <a:off x="540000" y="1260000"/>
            <a:ext cx="10800000" cy="1800000"/>
          </a:xfrm>
          <a:prstGeom prst="rect">
            <a:avLst/>
          </a:prstGeom>
        </p:spPr>
        <p:txBody>
          <a:bodyPr/>
          <a:lstStyle/>
          <a:p>
            <a:r>
              <a:rPr lang="en-US" sz="1800">
                <a:solidFill>
                  <a:srgbClr val="333333"/>
                </a:solidFill>
                <a:latin typeface="Calibri"/>
                <a:ea typeface="Calibri"/>
              </a:rPr>
              <a:t>This project delivers a dependable, real-time digital clock and task scheduler on the ATmega32 that meets every stated functional and non-functional requirement. Hardware-timer-driven timekeeping, a layered firmware architecture, and a verified cooperative scheduler together form a foundation that is stable, testable, and ready to extend.</a:t>
            </a:r>
          </a:p>
        </p:txBody>
      </p:sp>
      <p:sp>
        <p:nvSpPr>
          <p:cNvPr id="100175" name="TextBox 5"/>
          <p:cNvSpPr/>
          <p:nvPr/>
        </p:nvSpPr>
        <p:spPr>
          <a:xfrm>
            <a:off x="540000" y="3420000"/>
            <a:ext cx="3600000" cy="1440000"/>
          </a:xfrm>
          <a:prstGeom prst="roundRect">
            <a:avLst/>
          </a:prstGeom>
          <a:solidFill>
            <a:srgbClr val="1E2761"/>
          </a:solidFill>
          <a:ln>
            <a:noFill/>
          </a:ln>
        </p:spPr>
        <p:txBody>
          <a:bodyPr/>
          <a:lstStyle/>
          <a:p>
            <a:endParaRPr/>
          </a:p>
        </p:txBody>
      </p:sp>
      <p:sp>
        <p:nvSpPr>
          <p:cNvPr id="100176" name="TextBox 6"/>
          <p:cNvSpPr txBox="1"/>
          <p:nvPr/>
        </p:nvSpPr>
        <p:spPr>
          <a:xfrm>
            <a:off x="540000" y="3492000"/>
            <a:ext cx="3600000" cy="540000"/>
          </a:xfrm>
          <a:prstGeom prst="rect">
            <a:avLst/>
          </a:prstGeom>
        </p:spPr>
        <p:txBody>
          <a:bodyPr/>
          <a:lstStyle/>
          <a:p>
            <a:pPr algn="ctr"/>
            <a:r>
              <a:rPr lang="en-US" sz="2400" b="1">
                <a:solidFill>
                  <a:srgbClr val="FFFFFF"/>
                </a:solidFill>
                <a:latin typeface="Georgia"/>
                <a:ea typeface="Georgia"/>
              </a:rPr>
              <a:t>Accurate</a:t>
            </a:r>
          </a:p>
        </p:txBody>
      </p:sp>
      <p:sp>
        <p:nvSpPr>
          <p:cNvPr id="100177" name="TextBox 7"/>
          <p:cNvSpPr txBox="1"/>
          <p:nvPr/>
        </p:nvSpPr>
        <p:spPr>
          <a:xfrm>
            <a:off x="540000" y="4068000"/>
            <a:ext cx="3600000" cy="540000"/>
          </a:xfrm>
          <a:prstGeom prst="rect">
            <a:avLst/>
          </a:prstGeom>
        </p:spPr>
        <p:txBody>
          <a:bodyPr/>
          <a:lstStyle/>
          <a:p>
            <a:pPr algn="ctr"/>
            <a:r>
              <a:rPr lang="en-US" sz="1600">
                <a:solidFill>
                  <a:srgbClr val="CADCFC"/>
                </a:solidFill>
                <a:latin typeface="Calibri"/>
                <a:ea typeface="Calibri"/>
              </a:rPr>
              <a:t>~1 s / 13 days drift</a:t>
            </a:r>
          </a:p>
        </p:txBody>
      </p:sp>
      <p:sp>
        <p:nvSpPr>
          <p:cNvPr id="100178" name="TextBox 8"/>
          <p:cNvSpPr/>
          <p:nvPr/>
        </p:nvSpPr>
        <p:spPr>
          <a:xfrm>
            <a:off x="4500000" y="3420000"/>
            <a:ext cx="3600000" cy="1440000"/>
          </a:xfrm>
          <a:prstGeom prst="roundRect">
            <a:avLst/>
          </a:prstGeom>
          <a:solidFill>
            <a:srgbClr val="CADCFC"/>
          </a:solidFill>
          <a:ln>
            <a:noFill/>
          </a:ln>
        </p:spPr>
        <p:txBody>
          <a:bodyPr/>
          <a:lstStyle/>
          <a:p>
            <a:endParaRPr/>
          </a:p>
        </p:txBody>
      </p:sp>
      <p:sp>
        <p:nvSpPr>
          <p:cNvPr id="100179" name="TextBox 9"/>
          <p:cNvSpPr txBox="1"/>
          <p:nvPr/>
        </p:nvSpPr>
        <p:spPr>
          <a:xfrm>
            <a:off x="4500000" y="3492000"/>
            <a:ext cx="3600000" cy="540000"/>
          </a:xfrm>
          <a:prstGeom prst="rect">
            <a:avLst/>
          </a:prstGeom>
        </p:spPr>
        <p:txBody>
          <a:bodyPr/>
          <a:lstStyle/>
          <a:p>
            <a:pPr algn="ctr"/>
            <a:r>
              <a:rPr lang="en-US" sz="2400" b="1">
                <a:solidFill>
                  <a:srgbClr val="1E2761"/>
                </a:solidFill>
                <a:latin typeface="Georgia"/>
                <a:ea typeface="Georgia"/>
              </a:rPr>
              <a:t>Responsive</a:t>
            </a:r>
          </a:p>
        </p:txBody>
      </p:sp>
      <p:sp>
        <p:nvSpPr>
          <p:cNvPr id="100180" name="TextBox 10"/>
          <p:cNvSpPr txBox="1"/>
          <p:nvPr/>
        </p:nvSpPr>
        <p:spPr>
          <a:xfrm>
            <a:off x="4500000" y="4068000"/>
            <a:ext cx="3600000" cy="540000"/>
          </a:xfrm>
          <a:prstGeom prst="rect">
            <a:avLst/>
          </a:prstGeom>
        </p:spPr>
        <p:txBody>
          <a:bodyPr/>
          <a:lstStyle/>
          <a:p>
            <a:pPr algn="ctr"/>
            <a:r>
              <a:rPr lang="en-US" sz="1600">
                <a:solidFill>
                  <a:srgbClr val="333333"/>
                </a:solidFill>
                <a:latin typeface="Calibri"/>
                <a:ea typeface="Calibri"/>
              </a:rPr>
              <a:t>Non-blocking design</a:t>
            </a:r>
          </a:p>
        </p:txBody>
      </p:sp>
      <p:sp>
        <p:nvSpPr>
          <p:cNvPr id="100181" name="TextBox 11"/>
          <p:cNvSpPr/>
          <p:nvPr/>
        </p:nvSpPr>
        <p:spPr>
          <a:xfrm>
            <a:off x="8460000" y="3420000"/>
            <a:ext cx="3600000" cy="1440000"/>
          </a:xfrm>
          <a:prstGeom prst="roundRect">
            <a:avLst/>
          </a:prstGeom>
          <a:solidFill>
            <a:srgbClr val="F5F7FA"/>
          </a:solidFill>
          <a:ln w="25400">
            <a:solidFill>
              <a:srgbClr val="1E2761"/>
            </a:solidFill>
          </a:ln>
        </p:spPr>
        <p:txBody>
          <a:bodyPr/>
          <a:lstStyle/>
          <a:p>
            <a:endParaRPr/>
          </a:p>
        </p:txBody>
      </p:sp>
      <p:sp>
        <p:nvSpPr>
          <p:cNvPr id="100182" name="TextBox 12"/>
          <p:cNvSpPr txBox="1"/>
          <p:nvPr/>
        </p:nvSpPr>
        <p:spPr>
          <a:xfrm>
            <a:off x="8460000" y="3492000"/>
            <a:ext cx="3600000" cy="540000"/>
          </a:xfrm>
          <a:prstGeom prst="rect">
            <a:avLst/>
          </a:prstGeom>
        </p:spPr>
        <p:txBody>
          <a:bodyPr/>
          <a:lstStyle/>
          <a:p>
            <a:pPr algn="ctr"/>
            <a:r>
              <a:rPr lang="en-US" sz="2400" b="1">
                <a:solidFill>
                  <a:srgbClr val="1E2761"/>
                </a:solidFill>
                <a:latin typeface="Georgia"/>
                <a:ea typeface="Georgia"/>
              </a:rPr>
              <a:t>Maintainable</a:t>
            </a:r>
          </a:p>
        </p:txBody>
      </p:sp>
      <p:sp>
        <p:nvSpPr>
          <p:cNvPr id="100183" name="TextBox 13"/>
          <p:cNvSpPr txBox="1"/>
          <p:nvPr/>
        </p:nvSpPr>
        <p:spPr>
          <a:xfrm>
            <a:off x="8460000" y="4068000"/>
            <a:ext cx="3600000" cy="540000"/>
          </a:xfrm>
          <a:prstGeom prst="rect">
            <a:avLst/>
          </a:prstGeom>
        </p:spPr>
        <p:txBody>
          <a:bodyPr/>
          <a:lstStyle/>
          <a:p>
            <a:pPr algn="ctr"/>
            <a:r>
              <a:rPr lang="en-US" sz="1600">
                <a:solidFill>
                  <a:srgbClr val="333333"/>
                </a:solidFill>
                <a:latin typeface="Calibri"/>
                <a:ea typeface="Calibri"/>
              </a:rPr>
              <a:t>Layered codebase</a:t>
            </a:r>
          </a:p>
        </p:txBody>
      </p:sp>
      <p:sp>
        <p:nvSpPr>
          <p:cNvPr id="100184" name="TextBox 14"/>
          <p:cNvSpPr txBox="1"/>
          <p:nvPr/>
        </p:nvSpPr>
        <p:spPr>
          <a:xfrm>
            <a:off x="10080000" y="6300000"/>
            <a:ext cx="1800000" cy="360000"/>
          </a:xfrm>
          <a:prstGeom prst="rect">
            <a:avLst/>
          </a:prstGeom>
        </p:spPr>
        <p:txBody>
          <a:bodyPr/>
          <a:lstStyle/>
          <a:p>
            <a:pPr algn="r"/>
            <a:r>
              <a:rPr lang="en-US" sz="1200">
                <a:solidFill>
                  <a:srgbClr val="8899BB"/>
                </a:solidFill>
                <a:latin typeface="Calibri"/>
                <a:ea typeface="Calibri"/>
              </a:rPr>
              <a:t>14 /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100185" name="TextBox 1"/>
          <p:cNvSpPr txBox="1"/>
          <p:nvPr/>
        </p:nvSpPr>
        <p:spPr>
          <a:xfrm>
            <a:off x="720000" y="2160000"/>
            <a:ext cx="10753200" cy="1080000"/>
          </a:xfrm>
          <a:prstGeom prst="rect">
            <a:avLst/>
          </a:prstGeom>
        </p:spPr>
        <p:txBody>
          <a:bodyPr/>
          <a:lstStyle/>
          <a:p>
            <a:pPr algn="ctr"/>
            <a:r>
              <a:rPr lang="en-US" sz="4400" b="1">
                <a:solidFill>
                  <a:srgbClr val="FFFFFF"/>
                </a:solidFill>
                <a:latin typeface="Georgia"/>
                <a:ea typeface="Georgia"/>
              </a:rPr>
              <a:t>Questions &amp; Discussion</a:t>
            </a:r>
          </a:p>
        </p:txBody>
      </p:sp>
      <p:sp>
        <p:nvSpPr>
          <p:cNvPr id="100186" name="TextBox 2"/>
          <p:cNvSpPr txBox="1"/>
          <p:nvPr/>
        </p:nvSpPr>
        <p:spPr>
          <a:xfrm>
            <a:off x="720000" y="3420000"/>
            <a:ext cx="10753200" cy="540000"/>
          </a:xfrm>
          <a:prstGeom prst="rect">
            <a:avLst/>
          </a:prstGeom>
        </p:spPr>
        <p:txBody>
          <a:bodyPr/>
          <a:lstStyle/>
          <a:p>
            <a:pPr algn="ctr"/>
            <a:r>
              <a:rPr lang="en-US" sz="1800">
                <a:solidFill>
                  <a:srgbClr val="CADCFC"/>
                </a:solidFill>
                <a:latin typeface="Calibri"/>
                <a:ea typeface="Calibri"/>
              </a:rPr>
              <a:t>ATmega32 Timer-Based Digital Clock &amp; Task Scheduler  ·  CT_321 PBL 08</a:t>
            </a:r>
          </a:p>
        </p:txBody>
      </p:sp>
      <p:sp>
        <p:nvSpPr>
          <p:cNvPr id="100187" name="TextBox 3"/>
          <p:cNvSpPr txBox="1"/>
          <p:nvPr/>
        </p:nvSpPr>
        <p:spPr>
          <a:xfrm>
            <a:off x="720000" y="4320000"/>
            <a:ext cx="10753200" cy="540000"/>
          </a:xfrm>
          <a:prstGeom prst="rect">
            <a:avLst/>
          </a:prstGeom>
        </p:spPr>
        <p:txBody>
          <a:bodyPr/>
          <a:lstStyle/>
          <a:p>
            <a:pPr algn="ctr"/>
            <a:r>
              <a:rPr lang="en-US" sz="2000">
                <a:solidFill>
                  <a:srgbClr val="FFFFFF"/>
                </a:solidFill>
                <a:latin typeface="Calibri"/>
                <a:ea typeface="Calibri"/>
              </a:rPr>
              <a:t>Thank you for your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TotalTime>
  <Words>2025</Words>
  <Application>Microsoft Office PowerPoint</Application>
  <PresentationFormat>Widescreen</PresentationFormat>
  <Paragraphs>274</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Light</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OfficeCLI</dc:creator>
  <cp:lastModifiedBy>RAUFU</cp:lastModifiedBy>
  <cp:revision>2</cp:revision>
  <dcterms:created xsi:type="dcterms:W3CDTF">2026-07-01T06:37:37Z</dcterms:created>
  <dcterms:modified xsi:type="dcterms:W3CDTF">2026-07-01T07:51:18Z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ceCLI.Version">
    <vt:lpwstr>1.0.125</vt:lpwstr>
  </property>
  <property fmtid="{D5CDD505-2E9C-101B-9397-08002B2CF9AE}" pid="3" name="OfficeCLI.LastModified">
    <vt:lpwstr>2026-07-01T06:49:49Z</vt:lpwstr>
  </property>
</Properties>
</file>